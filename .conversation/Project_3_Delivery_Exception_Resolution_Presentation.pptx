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5"/>
    <p:sldMasterId id="214748368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embeddedFontLst>
    <p:embeddedFont>
      <p:font typeface="Nunito SemiBold"/>
      <p:regular r:id="rId20"/>
      <p:bold r:id="rId21"/>
      <p:italic r:id="rId22"/>
      <p:boldItalic r:id="rId23"/>
    </p:embeddedFont>
    <p:embeddedFont>
      <p:font typeface="Nunito"/>
      <p:regular r:id="rId24"/>
      <p:bold r:id="rId25"/>
      <p:italic r:id="rId26"/>
      <p:boldItalic r:id="rId27"/>
    </p:embeddedFont>
    <p:embeddedFont>
      <p:font typeface="Montserrat"/>
      <p:regular r:id="rId28"/>
      <p:bold r:id="rId29"/>
      <p:italic r:id="rId30"/>
      <p:boldItalic r:id="rId31"/>
    </p:embeddedFont>
    <p:embeddedFont>
      <p:font typeface="Nunito ExtraBold"/>
      <p:bold r:id="rId32"/>
      <p:boldItalic r:id="rId33"/>
    </p:embeddedFont>
    <p:embeddedFont>
      <p:font typeface="Century Gothic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0E045B5-FDBC-4571-976B-F3AD27CFFA3D}">
  <a:tblStyle styleId="{90E045B5-FDBC-4571-976B-F3AD27CFFA3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5B9BD5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5B9BD5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font" Target="fonts/NunitoSemiBold-regular.fntdata"/><Relationship Id="rId21" Type="http://schemas.openxmlformats.org/officeDocument/2006/relationships/font" Target="fonts/NunitoSemiBold-bold.fntdata"/><Relationship Id="rId22" Type="http://schemas.openxmlformats.org/officeDocument/2006/relationships/font" Target="fonts/NunitoSemiBold-italic.fntdata"/><Relationship Id="rId23" Type="http://schemas.openxmlformats.org/officeDocument/2006/relationships/font" Target="fonts/NunitoSemiBold-boldItalic.fntdata"/><Relationship Id="rId24" Type="http://schemas.openxmlformats.org/officeDocument/2006/relationships/font" Target="fonts/Nunito-regular.fntdata"/><Relationship Id="rId25" Type="http://schemas.openxmlformats.org/officeDocument/2006/relationships/font" Target="fonts/Nunito-bold.fntdata"/><Relationship Id="rId26" Type="http://schemas.openxmlformats.org/officeDocument/2006/relationships/font" Target="fonts/Nunito-italic.fntdata"/><Relationship Id="rId27" Type="http://schemas.openxmlformats.org/officeDocument/2006/relationships/font" Target="fonts/Nunito-boldItalic.fntdata"/><Relationship Id="rId28" Type="http://schemas.openxmlformats.org/officeDocument/2006/relationships/font" Target="fonts/Montserrat-regular.fntdata"/><Relationship Id="rId29" Type="http://schemas.openxmlformats.org/officeDocument/2006/relationships/font" Target="fonts/Montserrat-bold.fntdata"/><Relationship Id="rId30" Type="http://schemas.openxmlformats.org/officeDocument/2006/relationships/font" Target="fonts/Montserrat-italic.fntdata"/><Relationship Id="rId31" Type="http://schemas.openxmlformats.org/officeDocument/2006/relationships/font" Target="fonts/Montserrat-boldItalic.fntdata"/><Relationship Id="rId32" Type="http://schemas.openxmlformats.org/officeDocument/2006/relationships/font" Target="fonts/NunitoExtraBold-bold.fntdata"/><Relationship Id="rId33" Type="http://schemas.openxmlformats.org/officeDocument/2006/relationships/font" Target="fonts/NunitoExtraBold-boldItalic.fntdata"/><Relationship Id="rId34" Type="http://schemas.openxmlformats.org/officeDocument/2006/relationships/font" Target="fonts/CenturyGothic-regular.fntdata"/><Relationship Id="rId35" Type="http://schemas.openxmlformats.org/officeDocument/2006/relationships/font" Target="fonts/CenturyGothic-bold.fntdata"/><Relationship Id="rId36" Type="http://schemas.openxmlformats.org/officeDocument/2006/relationships/font" Target="fonts/CenturyGothic-italic.fntdata"/><Relationship Id="rId37" Type="http://schemas.openxmlformats.org/officeDocument/2006/relationships/font" Target="fonts/CenturyGothic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c275fce4fb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3c275fce4f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9" name="Google Shape;27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Proprietary content. ©Great Learning. All Rights Reserved. Unauthorized use or distribution prohibited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832299" y="4956048"/>
            <a:ext cx="3654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832299" y="4956048"/>
            <a:ext cx="3654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26" name="Google Shape;26;p5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{90E045B5-FDBC-4571-976B-F3AD27CFFA3D}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832299" y="4956048"/>
            <a:ext cx="3654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832299" y="4956048"/>
            <a:ext cx="3654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832299" y="4956048"/>
            <a:ext cx="3654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832299" y="4956048"/>
            <a:ext cx="3654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832299" y="4956048"/>
            <a:ext cx="3654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832299" y="4956048"/>
            <a:ext cx="3654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49" name="Google Shape;49;p11"/>
          <p:cNvPicPr preferRelativeResize="0"/>
          <p:nvPr/>
        </p:nvPicPr>
        <p:blipFill rotWithShape="1">
          <a:blip r:embed="rId2">
            <a:alphaModFix/>
          </a:blip>
          <a:srcRect b="19149" l="42816" r="37294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1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11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52" name="Google Shape;5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type="title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9pPr>
          </a:lstStyle>
          <a:p/>
        </p:txBody>
      </p:sp>
      <p:sp>
        <p:nvSpPr>
          <p:cNvPr id="55" name="Google Shape;55;p12"/>
          <p:cNvSpPr txBox="1"/>
          <p:nvPr>
            <p:ph idx="1" type="body"/>
          </p:nvPr>
        </p:nvSpPr>
        <p:spPr>
          <a:xfrm>
            <a:off x="457200" y="102184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0" type="dt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12"/>
          <p:cNvSpPr txBox="1"/>
          <p:nvPr>
            <p:ph idx="11" type="ftr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0" y="4956048"/>
            <a:ext cx="30000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idx="10" type="dt"/>
          </p:nvPr>
        </p:nvSpPr>
        <p:spPr>
          <a:xfrm>
            <a:off x="457200" y="4857749"/>
            <a:ext cx="2133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11" type="ftr"/>
          </p:nvPr>
        </p:nvSpPr>
        <p:spPr>
          <a:xfrm>
            <a:off x="2640596" y="4857749"/>
            <a:ext cx="5507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204396" y="4956048"/>
            <a:ext cx="7338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med"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569519" y="142741"/>
            <a:ext cx="80049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1412081" y="930269"/>
            <a:ext cx="6319800" cy="23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1574006" y="4988871"/>
            <a:ext cx="55650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6583680" y="4956048"/>
            <a:ext cx="21030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 Only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932967" y="348900"/>
            <a:ext cx="12780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1" type="ftr"/>
          </p:nvPr>
        </p:nvSpPr>
        <p:spPr>
          <a:xfrm>
            <a:off x="1712499" y="5010073"/>
            <a:ext cx="55644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1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6583680" y="4956048"/>
            <a:ext cx="21030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 Only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932967" y="348900"/>
            <a:ext cx="12780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1" type="ftr"/>
          </p:nvPr>
        </p:nvSpPr>
        <p:spPr>
          <a:xfrm>
            <a:off x="1712499" y="5010073"/>
            <a:ext cx="55644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6583680" y="4956048"/>
            <a:ext cx="21030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 Only_3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90424" y="497078"/>
            <a:ext cx="83631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1" type="ftr"/>
          </p:nvPr>
        </p:nvSpPr>
        <p:spPr>
          <a:xfrm>
            <a:off x="2879178" y="4948409"/>
            <a:ext cx="35034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7D7D7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17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6583680" y="4956048"/>
            <a:ext cx="21030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OBJECT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ctrTitle"/>
          </p:nvPr>
        </p:nvSpPr>
        <p:spPr>
          <a:xfrm>
            <a:off x="2938259" y="1851799"/>
            <a:ext cx="32676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5200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" type="subTitle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1" type="ftr"/>
          </p:nvPr>
        </p:nvSpPr>
        <p:spPr>
          <a:xfrm>
            <a:off x="2879178" y="4948409"/>
            <a:ext cx="35034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7D7D7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583680" y="4956048"/>
            <a:ext cx="21030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OBJECT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368992" y="2453440"/>
            <a:ext cx="2406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50889" y="4956048"/>
            <a:ext cx="2166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20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50889" y="4956048"/>
            <a:ext cx="2166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368992" y="2453440"/>
            <a:ext cx="2406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21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50889" y="4956048"/>
            <a:ext cx="2166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 1">
  <p:cSld name="OBJECT_1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2936867" y="2199322"/>
            <a:ext cx="32754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43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08" name="Google Shape;108;p22"/>
          <p:cNvSpPr txBox="1"/>
          <p:nvPr>
            <p:ph idx="11" type="ftr"/>
          </p:nvPr>
        </p:nvSpPr>
        <p:spPr>
          <a:xfrm>
            <a:off x="708292" y="4920311"/>
            <a:ext cx="64473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p22"/>
          <p:cNvSpPr txBox="1"/>
          <p:nvPr>
            <p:ph idx="10" type="dt"/>
          </p:nvPr>
        </p:nvSpPr>
        <p:spPr>
          <a:xfrm>
            <a:off x="457452" y="4783454"/>
            <a:ext cx="2104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p22"/>
          <p:cNvSpPr txBox="1"/>
          <p:nvPr>
            <p:ph idx="12" type="sldNum"/>
          </p:nvPr>
        </p:nvSpPr>
        <p:spPr>
          <a:xfrm>
            <a:off x="7529030" y="4956048"/>
            <a:ext cx="1884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 sz="8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">
  <p:cSld name="TITLE_AND_BODY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 1">
  <p:cSld name="Blank 2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6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125" name="Google Shape;125;p26"/>
          <p:cNvPicPr preferRelativeResize="0"/>
          <p:nvPr/>
        </p:nvPicPr>
        <p:blipFill rotWithShape="1">
          <a:blip r:embed="rId2">
            <a:alphaModFix/>
          </a:blip>
          <a:srcRect b="19147" l="42816" r="37294" t="18360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6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Google Shape;127;p26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Power Ahead!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128" name="Google Shape;12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875" y="769949"/>
            <a:ext cx="3071452" cy="12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7"/>
          <p:cNvSpPr txBox="1"/>
          <p:nvPr>
            <p:ph type="ctrTitle"/>
          </p:nvPr>
        </p:nvSpPr>
        <p:spPr>
          <a:xfrm>
            <a:off x="1260908" y="717750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31" name="Google Shape;131;p27"/>
          <p:cNvSpPr txBox="1"/>
          <p:nvPr>
            <p:ph idx="1" type="subTitle"/>
          </p:nvPr>
        </p:nvSpPr>
        <p:spPr>
          <a:xfrm>
            <a:off x="1260902" y="2770350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134" name="Google Shape;134;p28"/>
          <p:cNvSpPr txBox="1"/>
          <p:nvPr>
            <p:ph idx="12" type="sldNum"/>
          </p:nvPr>
        </p:nvSpPr>
        <p:spPr>
          <a:xfrm>
            <a:off x="8832299" y="4956048"/>
            <a:ext cx="3654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9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37" name="Google Shape;137;p29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38" name="Google Shape;138;p29"/>
          <p:cNvSpPr txBox="1"/>
          <p:nvPr>
            <p:ph idx="12" type="sldNum"/>
          </p:nvPr>
        </p:nvSpPr>
        <p:spPr>
          <a:xfrm>
            <a:off x="8832299" y="4956048"/>
            <a:ext cx="3654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141" name="Google Shape;141;p30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{90E045B5-FDBC-4571-976B-F3AD27CFFA3D}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142" name="Google Shape;142;p30"/>
          <p:cNvSpPr txBox="1"/>
          <p:nvPr>
            <p:ph idx="12" type="sldNum"/>
          </p:nvPr>
        </p:nvSpPr>
        <p:spPr>
          <a:xfrm>
            <a:off x="8832299" y="4956048"/>
            <a:ext cx="3654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45" name="Google Shape;145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6" name="Google Shape;146;p3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7" name="Google Shape;147;p31"/>
          <p:cNvSpPr txBox="1"/>
          <p:nvPr>
            <p:ph idx="12" type="sldNum"/>
          </p:nvPr>
        </p:nvSpPr>
        <p:spPr>
          <a:xfrm>
            <a:off x="8832299" y="4956048"/>
            <a:ext cx="3654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50" name="Google Shape;150;p32"/>
          <p:cNvSpPr txBox="1"/>
          <p:nvPr>
            <p:ph idx="12" type="sldNum"/>
          </p:nvPr>
        </p:nvSpPr>
        <p:spPr>
          <a:xfrm>
            <a:off x="8832299" y="4956048"/>
            <a:ext cx="3654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3" name="Google Shape;153;p33"/>
          <p:cNvSpPr txBox="1"/>
          <p:nvPr>
            <p:ph idx="12" type="sldNum"/>
          </p:nvPr>
        </p:nvSpPr>
        <p:spPr>
          <a:xfrm>
            <a:off x="8832299" y="4956048"/>
            <a:ext cx="3654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7" name="Google Shape;157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58" name="Google Shape;158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159" name="Google Shape;159;p34"/>
          <p:cNvSpPr txBox="1"/>
          <p:nvPr>
            <p:ph idx="12" type="sldNum"/>
          </p:nvPr>
        </p:nvSpPr>
        <p:spPr>
          <a:xfrm>
            <a:off x="8832299" y="4956048"/>
            <a:ext cx="3654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5"/>
          <p:cNvSpPr txBox="1"/>
          <p:nvPr>
            <p:ph idx="12" type="sldNum"/>
          </p:nvPr>
        </p:nvSpPr>
        <p:spPr>
          <a:xfrm>
            <a:off x="8832299" y="4956048"/>
            <a:ext cx="3654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1600200" y="4992624"/>
            <a:ext cx="5943600" cy="118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norm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6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832299" y="4956048"/>
            <a:ext cx="3654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" name="Google Shape;12;p1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116" name="Google Shape;116;p25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17" name="Google Shape;117;p25"/>
          <p:cNvSpPr txBox="1"/>
          <p:nvPr/>
        </p:nvSpPr>
        <p:spPr>
          <a:xfrm>
            <a:off x="1600200" y="4992624"/>
            <a:ext cx="5943600" cy="118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none" tIns="0">
            <a:norm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6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8" name="Google Shape;118;p25"/>
          <p:cNvSpPr txBox="1"/>
          <p:nvPr>
            <p:ph idx="12" type="sldNum"/>
          </p:nvPr>
        </p:nvSpPr>
        <p:spPr>
          <a:xfrm>
            <a:off x="8832299" y="4956048"/>
            <a:ext cx="3654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9" name="Google Shape;119;p2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5" cy="57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25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1" name="Google Shape;121;p25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5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3757"/>
        </a:solidFill>
        <a:effectLst/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 165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822960" y="857250"/>
            <a:ext cx="7498079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AI-Powered Delivery</a:t>
            </a:r>
            <a:br/>
            <a:r>
              <a:t>Exception Resolution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868680" y="1954530"/>
            <a:ext cx="6858000" cy="4800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>
                <a:solidFill>
                  <a:srgbClr val="C4E0E8"/>
                </a:solidFill>
                <a:latin typeface="Aptos"/>
              </a:defRPr>
            </a:pPr>
            <a:r>
              <a:t>Project 3 | Low-Code Multi-Agent System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868680" y="4080510"/>
            <a:ext cx="5029200" cy="30861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t>25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Box 172"/>
          <p:cNvSpPr txBox="1"/>
          <p:nvPr/>
        </p:nvSpPr>
        <p:spPr>
          <a:xfrm>
            <a:off x="502920" y="171450"/>
            <a:ext cx="7178040" cy="3771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83757"/>
                </a:solidFill>
                <a:latin typeface="Aptos Display"/>
              </a:defRPr>
            </a:pPr>
            <a:r>
              <a:t>Contents / Agenda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822960" y="994410"/>
            <a:ext cx="7498079" cy="32918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83757"/>
                </a:solidFill>
                <a:latin typeface="Aptos"/>
              </a:defRPr>
            </a:pPr>
            <a:r>
              <a:t>• Executive summary and verified outcomes</a:t>
            </a:r>
          </a:p>
          <a:p>
            <a:pPr>
              <a:spcAft>
                <a:spcPts val="1200"/>
              </a:spcAft>
              <a:defRPr sz="1800" b="0">
                <a:solidFill>
                  <a:srgbClr val="183757"/>
                </a:solidFill>
                <a:latin typeface="Aptos"/>
              </a:defRPr>
            </a:pPr>
            <a:r>
              <a:t>• Business problem and solution approach</a:t>
            </a:r>
          </a:p>
          <a:p>
            <a:pPr>
              <a:spcAft>
                <a:spcPts val="1200"/>
              </a:spcAft>
              <a:defRPr sz="1800" b="0">
                <a:solidFill>
                  <a:srgbClr val="183757"/>
                </a:solidFill>
                <a:latin typeface="Aptos"/>
              </a:defRPr>
            </a:pPr>
            <a:r>
              <a:t>• Data loading, model initialization, and retrieval</a:t>
            </a:r>
          </a:p>
          <a:p>
            <a:pPr>
              <a:spcAft>
                <a:spcPts val="1200"/>
              </a:spcAft>
              <a:defRPr sz="1800" b="0">
                <a:solidFill>
                  <a:srgbClr val="183757"/>
                </a:solidFill>
                <a:latin typeface="Aptos"/>
              </a:defRPr>
            </a:pPr>
            <a:r>
              <a:t>• Tools, multi-agent architecture, escalation, and security</a:t>
            </a:r>
          </a:p>
          <a:p>
            <a:pPr>
              <a:spcAft>
                <a:spcPts val="1200"/>
              </a:spcAft>
              <a:defRPr sz="1800" b="0">
                <a:solidFill>
                  <a:srgbClr val="183757"/>
                </a:solidFill>
                <a:latin typeface="Aptos"/>
              </a:defRPr>
            </a:pPr>
            <a:r>
              <a:t>• Test cases, traces, document citations, and evaluation metrics</a:t>
            </a:r>
          </a:p>
          <a:p>
            <a:pPr>
              <a:spcAft>
                <a:spcPts val="1200"/>
              </a:spcAft>
              <a:defRPr sz="1800" b="0">
                <a:solidFill>
                  <a:srgbClr val="183757"/>
                </a:solidFill>
                <a:latin typeface="Aptos"/>
              </a:defRPr>
            </a:pPr>
            <a:r>
              <a:t>• Conclusions, recommendations, and appendix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0" y="4834890"/>
            <a:ext cx="9144000" cy="13716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502920" y="4855464"/>
            <a:ext cx="8138160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00">
                <a:solidFill>
                  <a:srgbClr val="525F6C"/>
                </a:solidFill>
                <a:latin typeface="Aptos"/>
              </a:defRPr>
            </a:pPr>
            <a:r>
              <a:t>Project 3 | Low-Code Delivery Exception Resolution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Box 189"/>
          <p:cNvSpPr txBox="1"/>
          <p:nvPr/>
        </p:nvSpPr>
        <p:spPr>
          <a:xfrm>
            <a:off x="502920" y="171450"/>
            <a:ext cx="7178040" cy="3771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83757"/>
                </a:solidFill>
                <a:latin typeface="Aptos Display"/>
              </a:defRPr>
            </a:pPr>
            <a:r>
              <a:t>Executive Summary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530352" y="534924"/>
            <a:ext cx="7178040" cy="2057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>
                <a:solidFill>
                  <a:srgbClr val="525F6C"/>
                </a:solidFill>
                <a:latin typeface="Aptos"/>
              </a:defRPr>
            </a:pPr>
            <a:r>
              <a:t>The completed notebook was executed against all attached data.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594360" y="857250"/>
            <a:ext cx="2514600" cy="1131570"/>
          </a:xfrm>
          <a:prstGeom prst="roundRect">
            <a:avLst/>
          </a:prstGeom>
          <a:solidFill>
            <a:srgbClr val="F2F7FA"/>
          </a:solidFill>
          <a:ln>
            <a:solidFill>
              <a:srgbClr val="D2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94360" y="857250"/>
            <a:ext cx="73152" cy="1131570"/>
          </a:xfrm>
          <a:prstGeom prst="rect">
            <a:avLst/>
          </a:prstGeom>
          <a:solidFill>
            <a:srgbClr val="2D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758952" y="939546"/>
            <a:ext cx="2258568" cy="99441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1">
                <a:solidFill>
                  <a:srgbClr val="183757"/>
                </a:solidFill>
                <a:latin typeface="Aptos"/>
              </a:defRPr>
            </a:pPr>
            <a:r>
              <a:t>SCOPE</a:t>
            </a:r>
          </a:p>
          <a:p>
            <a:pPr>
              <a:spcAft>
                <a:spcPts val="200"/>
              </a:spcAft>
              <a:defRPr sz="1100">
                <a:solidFill>
                  <a:srgbClr val="525F6C"/>
                </a:solidFill>
                <a:latin typeface="Aptos"/>
              </a:defRPr>
            </a:pPr>
            <a:r>
              <a:t>13 raw delivery-log rows</a:t>
            </a:r>
          </a:p>
          <a:p>
            <a:pPr>
              <a:spcAft>
                <a:spcPts val="200"/>
              </a:spcAft>
              <a:defRPr sz="1100">
                <a:solidFill>
                  <a:srgbClr val="525F6C"/>
                </a:solidFill>
                <a:latin typeface="Aptos"/>
              </a:defRPr>
            </a:pPr>
            <a:r>
              <a:t>10 unique shipments</a:t>
            </a:r>
          </a:p>
          <a:p>
            <a:pPr>
              <a:spcAft>
                <a:spcPts val="200"/>
              </a:spcAft>
              <a:defRPr sz="1100">
                <a:solidFill>
                  <a:srgbClr val="525F6C"/>
                </a:solidFill>
                <a:latin typeface="Aptos"/>
              </a:defRPr>
            </a:pPr>
            <a:r>
              <a:t>12 customers + 6 lockers</a:t>
            </a:r>
          </a:p>
          <a:p>
            <a:pPr>
              <a:spcAft>
                <a:spcPts val="200"/>
              </a:spcAft>
              <a:defRPr sz="1100">
                <a:solidFill>
                  <a:srgbClr val="525F6C"/>
                </a:solidFill>
                <a:latin typeface="Aptos"/>
              </a:defRPr>
            </a:pPr>
            <a:r>
              <a:t>10-page operations playbook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3310128" y="857250"/>
            <a:ext cx="2514600" cy="1131570"/>
          </a:xfrm>
          <a:prstGeom prst="roundRect">
            <a:avLst/>
          </a:prstGeom>
          <a:solidFill>
            <a:srgbClr val="F2F7FA"/>
          </a:solidFill>
          <a:ln>
            <a:solidFill>
              <a:srgbClr val="D2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3310128" y="857250"/>
            <a:ext cx="73152" cy="1131570"/>
          </a:xfrm>
          <a:prstGeom prst="rect">
            <a:avLst/>
          </a:prstGeom>
          <a:solidFill>
            <a:srgbClr val="238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3474720" y="939546"/>
            <a:ext cx="2258568" cy="994410"/>
          </a:xfrm>
          <a:prstGeom prst="rect">
            <a:avLst/>
          </a:prstGeom>
          <a:noFill/>
        </p:spPr>
        <p:txBody>
          <a:bodyPr wrap="square" lIns="18288" rIns="27432" tIns="13716" bIns="13716" anchor="t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20" b="1">
                <a:solidFill>
                  <a:srgbClr val="183757"/>
                </a:solidFill>
                <a:latin typeface="Aptos"/>
              </a:rPr>
              <a:t>RESULT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33495D"/>
                </a:solidFill>
                <a:latin typeface="Aptos"/>
              </a:rPr>
              <a:t>Task completion: 100%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33495D"/>
                </a:solidFill>
                <a:latin typeface="Aptos"/>
              </a:rPr>
              <a:t>Escalation accuracy: 100% (8/8)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33495D"/>
                </a:solidFill>
                <a:latin typeface="Aptos"/>
              </a:rPr>
              <a:t>Tool-call accuracy: 100%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33495D"/>
                </a:solidFill>
                <a:latin typeface="Aptos"/>
              </a:rPr>
              <a:t>Coherence: 5.00 / 5 (offline trace checklist)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6025896" y="857250"/>
            <a:ext cx="2514600" cy="1131570"/>
          </a:xfrm>
          <a:prstGeom prst="roundRect">
            <a:avLst/>
          </a:prstGeom>
          <a:solidFill>
            <a:srgbClr val="F2F7FA"/>
          </a:solidFill>
          <a:ln>
            <a:solidFill>
              <a:srgbClr val="D2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6025896" y="857250"/>
            <a:ext cx="73152" cy="1131570"/>
          </a:xfrm>
          <a:prstGeom prst="rect">
            <a:avLst/>
          </a:prstGeom>
          <a:solidFill>
            <a:srgbClr val="D27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6190488" y="939546"/>
            <a:ext cx="2258568" cy="99441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1">
                <a:solidFill>
                  <a:srgbClr val="183757"/>
                </a:solidFill>
                <a:latin typeface="Aptos"/>
              </a:defRPr>
            </a:pPr>
            <a:r>
              <a:t>RECOMMENDATION</a:t>
            </a:r>
          </a:p>
          <a:p>
            <a:pPr>
              <a:spcAft>
                <a:spcPts val="200"/>
              </a:spcAft>
              <a:defRPr sz="1100">
                <a:solidFill>
                  <a:srgbClr val="525F6C"/>
                </a:solidFill>
                <a:latin typeface="Aptos"/>
              </a:defRPr>
            </a:pPr>
            <a:r>
              <a:t>Keep deterministic policy rules authoritative for safety and escalation. Use the LLM for classification, rationale, and customer communication.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777240" y="2297430"/>
            <a:ext cx="7589520" cy="19202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5F6C"/>
                </a:solidFill>
                <a:latin typeface="Aptos"/>
              </a:defRPr>
            </a:pPr>
            <a:r>
              <a:t>• The system filters routine noise before unnecessary tool or model calls.</a:t>
            </a:r>
          </a:p>
          <a:p>
            <a:pPr>
              <a:spcAft>
                <a:spcPts val="800"/>
              </a:spcAft>
              <a:defRPr sz="1500" b="0">
                <a:solidFill>
                  <a:srgbClr val="525F6C"/>
                </a:solidFill>
                <a:latin typeface="Aptos"/>
              </a:defRPr>
            </a:pPr>
            <a:r>
              <a:t>• It removes duplicate scans, retrieves policy context, checks lockers, and applies escalation rules.</a:t>
            </a:r>
          </a:p>
          <a:p>
            <a:pPr>
              <a:spcAft>
                <a:spcPts val="800"/>
              </a:spcAft>
              <a:defRPr sz="1500" b="0">
                <a:solidFill>
                  <a:srgbClr val="525F6C"/>
                </a:solidFill>
                <a:latin typeface="Aptos"/>
              </a:defRPr>
            </a:pPr>
            <a:r>
              <a:t>• Structured Resolution and Communication agents are validated by critic agents before finalization.</a:t>
            </a:r>
          </a:p>
          <a:p>
            <a:pPr>
              <a:spcAft>
                <a:spcPts val="800"/>
              </a:spcAft>
              <a:defRPr sz="1500" b="0">
                <a:solidFill>
                  <a:srgbClr val="525F6C"/>
                </a:solidFill>
                <a:latin typeface="Aptos"/>
              </a:defRPr>
            </a:pPr>
            <a:r>
              <a:t>• The run used a credential-free deterministic fallback; remote GPT-4o-mini mode remains supported when configured.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0" y="4834890"/>
            <a:ext cx="9144000" cy="13716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502920" y="4855464"/>
            <a:ext cx="8138160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00">
                <a:solidFill>
                  <a:srgbClr val="525F6C"/>
                </a:solidFill>
                <a:latin typeface="Aptos"/>
              </a:defRPr>
            </a:pPr>
            <a:r>
              <a:t>Project 3 | Low-Code Delivery Exception Resolution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Box 196"/>
          <p:cNvSpPr txBox="1"/>
          <p:nvPr/>
        </p:nvSpPr>
        <p:spPr>
          <a:xfrm>
            <a:off x="502920" y="171450"/>
            <a:ext cx="7178040" cy="3771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83757"/>
                </a:solidFill>
                <a:latin typeface="Aptos Display"/>
              </a:defRPr>
            </a:pPr>
            <a:r>
              <a:t>Business Problem Overview and Solution Approach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594360" y="857250"/>
            <a:ext cx="3749039" cy="1440180"/>
          </a:xfrm>
          <a:prstGeom prst="roundRect">
            <a:avLst/>
          </a:prstGeom>
          <a:solidFill>
            <a:srgbClr val="F2F7FA"/>
          </a:solidFill>
          <a:ln>
            <a:solidFill>
              <a:srgbClr val="D2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94360" y="857250"/>
            <a:ext cx="73152" cy="1440180"/>
          </a:xfrm>
          <a:prstGeom prst="rect">
            <a:avLst/>
          </a:prstGeom>
          <a:solidFill>
            <a:srgbClr val="D27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758952" y="939546"/>
            <a:ext cx="3493007" cy="13030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183757"/>
                </a:solidFill>
                <a:latin typeface="Aptos"/>
              </a:defRPr>
            </a:pPr>
            <a:r>
              <a:t>BUSINESS PROBLEM</a:t>
            </a:r>
          </a:p>
          <a:p>
            <a:pPr>
              <a:spcAft>
                <a:spcPts val="200"/>
              </a:spcAft>
              <a:defRPr sz="1300">
                <a:solidFill>
                  <a:srgbClr val="525F6C"/>
                </a:solidFill>
                <a:latin typeface="Aptos"/>
              </a:defRPr>
            </a:pPr>
            <a:r>
              <a:t>Delivery exceptions are messy, repetitive, and policy-sensitive. Duplicate scans create false work; natural-language notes hide the relevant facts; inconsistent escalation risks customer and operational harm.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4617720" y="857250"/>
            <a:ext cx="3886200" cy="1440180"/>
          </a:xfrm>
          <a:prstGeom prst="roundRect">
            <a:avLst/>
          </a:prstGeom>
          <a:solidFill>
            <a:srgbClr val="F2F7FA"/>
          </a:solidFill>
          <a:ln>
            <a:solidFill>
              <a:srgbClr val="D2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4617720" y="857250"/>
            <a:ext cx="73152" cy="14401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4782312" y="939546"/>
            <a:ext cx="3630168" cy="13030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183757"/>
                </a:solidFill>
                <a:latin typeface="Aptos"/>
              </a:defRPr>
            </a:pPr>
            <a:r>
              <a:t>SOLUTION</a:t>
            </a:r>
          </a:p>
          <a:p>
            <a:pPr>
              <a:spcAft>
                <a:spcPts val="200"/>
              </a:spcAft>
              <a:defRPr sz="1300">
                <a:solidFill>
                  <a:srgbClr val="525F6C"/>
                </a:solidFill>
                <a:latin typeface="Aptos"/>
              </a:defRPr>
            </a:pPr>
            <a:r>
              <a:t>A hub-and-spoke LangGraph workflow combines guardrails, deterministic tools, structured agent outputs, critic validation, and traceable final actions.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731520" y="2537460"/>
            <a:ext cx="7818120" cy="174879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5F6C"/>
                </a:solidFill>
                <a:latin typeface="Aptos"/>
              </a:defRPr>
            </a:pPr>
            <a:r>
              <a:t>• 1. Preprocess: deduplicate, consolidate attempts, scan for injection, and filter routine noise.</a:t>
            </a:r>
          </a:p>
          <a:p>
            <a:pPr>
              <a:spcAft>
                <a:spcPts val="500"/>
              </a:spcAft>
              <a:defRPr sz="1400" b="0">
                <a:solidFill>
                  <a:srgbClr val="525F6C"/>
                </a:solidFill>
                <a:latin typeface="Aptos"/>
              </a:defRPr>
            </a:pPr>
            <a:r>
              <a:t>• 2. Enrich: retrieve customer profile, locker availability, playbook chunks, and escalation signals.</a:t>
            </a:r>
          </a:p>
          <a:p>
            <a:pPr>
              <a:spcAft>
                <a:spcPts val="500"/>
              </a:spcAft>
              <a:defRPr sz="1400" b="0">
                <a:solidFill>
                  <a:srgbClr val="525F6C"/>
                </a:solidFill>
                <a:latin typeface="Aptos"/>
              </a:defRPr>
            </a:pPr>
            <a:r>
              <a:t>• 3. Decide: Resolution Agent selects classification and action with a policy-grounded rationale.</a:t>
            </a:r>
          </a:p>
          <a:p>
            <a:pPr>
              <a:spcAft>
                <a:spcPts val="500"/>
              </a:spcAft>
              <a:defRPr sz="1400" b="0">
                <a:solidFill>
                  <a:srgbClr val="525F6C"/>
                </a:solidFill>
                <a:latin typeface="Aptos"/>
              </a:defRPr>
            </a:pPr>
            <a:r>
              <a:t>• 4. Validate: Resolution Critic may accept, revise, or escalate; Communication Critic validates the message.</a:t>
            </a:r>
          </a:p>
          <a:p>
            <a:pPr>
              <a:spcAft>
                <a:spcPts val="500"/>
              </a:spcAft>
              <a:defRPr sz="1400" b="0">
                <a:solidFill>
                  <a:srgbClr val="525F6C"/>
                </a:solidFill>
                <a:latin typeface="Aptos"/>
              </a:defRPr>
            </a:pPr>
            <a:r>
              <a:t>• 5. Finalize: package an auditable action, escalation flag, customer message, citations, and latency.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0" y="4834890"/>
            <a:ext cx="9144000" cy="13716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502920" y="4855464"/>
            <a:ext cx="8138160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00">
                <a:solidFill>
                  <a:srgbClr val="525F6C"/>
                </a:solidFill>
                <a:latin typeface="Aptos"/>
              </a:defRPr>
            </a:pPr>
            <a:r>
              <a:t>Project 3 | Low-Code Delivery Exception Resolution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extBox 205"/>
          <p:cNvSpPr txBox="1"/>
          <p:nvPr/>
        </p:nvSpPr>
        <p:spPr>
          <a:xfrm>
            <a:off x="502920" y="171450"/>
            <a:ext cx="7178040" cy="3771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83757"/>
                </a:solidFill>
                <a:latin typeface="Aptos Display"/>
              </a:defRPr>
            </a:pPr>
            <a:r>
              <a:t>Data Loading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530352" y="534924"/>
            <a:ext cx="7178040" cy="2057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>
                <a:solidFill>
                  <a:srgbClr val="525F6C"/>
                </a:solidFill>
                <a:latin typeface="Aptos"/>
              </a:defRPr>
            </a:pPr>
            <a:r>
              <a:t>Source coverage and attributes used by the solution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502920" y="822960"/>
            <a:ext cx="3931920" cy="1165860"/>
          </a:xfrm>
          <a:prstGeom prst="roundRect">
            <a:avLst/>
          </a:prstGeom>
          <a:solidFill>
            <a:srgbClr val="F2F7FA"/>
          </a:solidFill>
          <a:ln>
            <a:solidFill>
              <a:srgbClr val="D2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02920" y="822960"/>
            <a:ext cx="73152" cy="1165860"/>
          </a:xfrm>
          <a:prstGeom prst="rect">
            <a:avLst/>
          </a:prstGeom>
          <a:solidFill>
            <a:srgbClr val="2D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667512" y="905254"/>
            <a:ext cx="3675887" cy="10287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1">
                <a:solidFill>
                  <a:srgbClr val="183757"/>
                </a:solidFill>
                <a:latin typeface="Aptos"/>
              </a:defRPr>
            </a:pPr>
            <a:r>
              <a:t>DELIVERY LOGS | 13 ROWS</a:t>
            </a:r>
          </a:p>
          <a:p>
            <a:pPr>
              <a:spcAft>
                <a:spcPts val="200"/>
              </a:spcAft>
              <a:defRPr sz="1100">
                <a:solidFill>
                  <a:srgbClr val="525F6C"/>
                </a:solidFill>
                <a:latin typeface="Aptos"/>
              </a:defRPr>
            </a:pPr>
            <a:r>
              <a:t>shipment_id, timestamp, status_code, driver description, customer_id, address, package type/size, attempt number, duplicate flag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4617720" y="822960"/>
            <a:ext cx="3931920" cy="1165860"/>
          </a:xfrm>
          <a:prstGeom prst="roundRect">
            <a:avLst/>
          </a:prstGeom>
          <a:solidFill>
            <a:srgbClr val="F2F7FA"/>
          </a:solidFill>
          <a:ln>
            <a:solidFill>
              <a:srgbClr val="D2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4617720" y="822960"/>
            <a:ext cx="73152" cy="116586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4782312" y="905254"/>
            <a:ext cx="3675887" cy="10287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1">
                <a:solidFill>
                  <a:srgbClr val="183757"/>
                </a:solidFill>
                <a:latin typeface="Aptos"/>
              </a:defRPr>
            </a:pPr>
            <a:r>
              <a:t>CUSTOMER DB | 12 ROWS</a:t>
            </a:r>
          </a:p>
          <a:p>
            <a:pPr>
              <a:spcAft>
                <a:spcPts val="200"/>
              </a:spcAft>
              <a:defRPr sz="1100">
                <a:solidFill>
                  <a:srgbClr val="525F6C"/>
                </a:solidFill>
                <a:latin typeface="Aptos"/>
              </a:defRPr>
            </a:pPr>
            <a:r>
              <a:t>Customer tier, preferred channel, exception count in the last 90 days, active credit, and name. Names are redacted by default.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502920" y="2160270"/>
            <a:ext cx="3931920" cy="1165860"/>
          </a:xfrm>
          <a:prstGeom prst="roundRect">
            <a:avLst/>
          </a:prstGeom>
          <a:solidFill>
            <a:srgbClr val="F2F7FA"/>
          </a:solidFill>
          <a:ln>
            <a:solidFill>
              <a:srgbClr val="D2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502920" y="2160270"/>
            <a:ext cx="73152" cy="1165860"/>
          </a:xfrm>
          <a:prstGeom prst="rect">
            <a:avLst/>
          </a:prstGeom>
          <a:solidFill>
            <a:srgbClr val="238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667512" y="2242566"/>
            <a:ext cx="3675887" cy="10287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1">
                <a:solidFill>
                  <a:srgbClr val="183757"/>
                </a:solidFill>
                <a:latin typeface="Aptos"/>
              </a:defRPr>
            </a:pPr>
            <a:r>
              <a:t>LOCKER DB | 6 ROWS</a:t>
            </a:r>
          </a:p>
          <a:p>
            <a:pPr>
              <a:spcAft>
                <a:spcPts val="200"/>
              </a:spcAft>
              <a:defRPr sz="1100">
                <a:solidFill>
                  <a:srgbClr val="525F6C"/>
                </a:solidFill>
                <a:latin typeface="Aptos"/>
              </a:defRPr>
            </a:pPr>
            <a:r>
              <a:t>Locker address and ZIP, capacity status, operating hours, and maximum package size. Eligibility is checked before reroute communication.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4617720" y="2160270"/>
            <a:ext cx="3931920" cy="1165860"/>
          </a:xfrm>
          <a:prstGeom prst="roundRect">
            <a:avLst/>
          </a:prstGeom>
          <a:solidFill>
            <a:srgbClr val="F2F7FA"/>
          </a:solidFill>
          <a:ln>
            <a:solidFill>
              <a:srgbClr val="D2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4617720" y="2160270"/>
            <a:ext cx="73152" cy="1165860"/>
          </a:xfrm>
          <a:prstGeom prst="rect">
            <a:avLst/>
          </a:prstGeom>
          <a:solidFill>
            <a:srgbClr val="D27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4782312" y="2242566"/>
            <a:ext cx="3675887" cy="10287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1">
                <a:solidFill>
                  <a:srgbClr val="183757"/>
                </a:solidFill>
                <a:latin typeface="Aptos"/>
              </a:defRPr>
            </a:pPr>
            <a:r>
              <a:t>PLAYBOOK + LABELS</a:t>
            </a:r>
          </a:p>
          <a:p>
            <a:pPr>
              <a:spcAft>
                <a:spcPts val="200"/>
              </a:spcAft>
              <a:defRPr sz="1100">
                <a:solidFill>
                  <a:srgbClr val="525F6C"/>
                </a:solidFill>
                <a:latin typeface="Aptos"/>
              </a:defRPr>
            </a:pPr>
            <a:r>
              <a:t>10-page PDF split into 24 page-aware chunks. Ground truth has 13 labels aligned to the raw logs and consolidates to 10 unique shipment scenarios.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685800" y="3737610"/>
            <a:ext cx="7772400" cy="65151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525F6C"/>
                </a:solidFill>
                <a:latin typeface="Aptos"/>
              </a:defRPr>
            </a:pPr>
            <a:r>
              <a:t>• Important data quality handling: duplicate scans for SHP-002 and SHP-007 are removed before consolidation.</a:t>
            </a:r>
          </a:p>
          <a:p>
            <a:pPr>
              <a:spcAft>
                <a:spcPts val="300"/>
              </a:spcAft>
              <a:defRPr sz="1200" b="0">
                <a:solidFill>
                  <a:srgbClr val="525F6C"/>
                </a:solidFill>
                <a:latin typeface="Aptos"/>
              </a:defRPr>
            </a:pPr>
            <a:r>
              <a:t>• Ground truth is consolidated by shipment, using the highest-attempt exception label for multi-row shipments.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0" y="4834890"/>
            <a:ext cx="9144000" cy="13716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502920" y="4855464"/>
            <a:ext cx="8138160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00">
                <a:solidFill>
                  <a:srgbClr val="525F6C"/>
                </a:solidFill>
                <a:latin typeface="Aptos"/>
              </a:defRPr>
            </a:pPr>
            <a:r>
              <a:t>Project 3 | Low-Code Delivery Exception Resolution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Box 215"/>
          <p:cNvSpPr txBox="1"/>
          <p:nvPr/>
        </p:nvSpPr>
        <p:spPr>
          <a:xfrm>
            <a:off x="502920" y="171450"/>
            <a:ext cx="7178040" cy="3771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83757"/>
                </a:solidFill>
                <a:latin typeface="Aptos Display"/>
              </a:defRPr>
            </a:pPr>
            <a:r>
              <a:t>Model Initialization and Retrieval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594360" y="857250"/>
            <a:ext cx="2514600" cy="1371600"/>
          </a:xfrm>
          <a:prstGeom prst="roundRect">
            <a:avLst/>
          </a:prstGeom>
          <a:solidFill>
            <a:srgbClr val="F2F7FA"/>
          </a:solidFill>
          <a:ln>
            <a:solidFill>
              <a:srgbClr val="D2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594360" y="857250"/>
            <a:ext cx="73152" cy="1371600"/>
          </a:xfrm>
          <a:prstGeom prst="rect">
            <a:avLst/>
          </a:prstGeom>
          <a:solidFill>
            <a:srgbClr val="2D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758952" y="939546"/>
            <a:ext cx="2258568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183757"/>
                </a:solidFill>
                <a:latin typeface="Aptos"/>
              </a:defRPr>
            </a:pPr>
            <a:r>
              <a:t>REMOTE MODE</a:t>
            </a:r>
          </a:p>
          <a:p>
            <a:pPr>
              <a:spcAft>
                <a:spcPts val="200"/>
              </a:spcAft>
              <a:defRPr sz="1200">
                <a:solidFill>
                  <a:srgbClr val="525F6C"/>
                </a:solidFill>
                <a:latin typeface="Aptos"/>
              </a:defRPr>
            </a:pPr>
            <a:r>
              <a:t>Generation: gpt-4o-mini</a:t>
            </a:r>
          </a:p>
          <a:p>
            <a:pPr>
              <a:spcAft>
                <a:spcPts val="200"/>
              </a:spcAft>
              <a:defRPr sz="1200">
                <a:solidFill>
                  <a:srgbClr val="525F6C"/>
                </a:solidFill>
                <a:latin typeface="Aptos"/>
              </a:defRPr>
            </a:pPr>
            <a:r>
              <a:t>Validation: gpt-4o-mini</a:t>
            </a:r>
          </a:p>
          <a:p>
            <a:pPr>
              <a:spcAft>
                <a:spcPts val="200"/>
              </a:spcAft>
              <a:defRPr sz="1200">
                <a:solidFill>
                  <a:srgbClr val="525F6C"/>
                </a:solidFill>
                <a:latin typeface="Aptos"/>
              </a:defRPr>
            </a:pPr>
            <a:r>
              <a:t>Temperature: 0.0</a:t>
            </a:r>
          </a:p>
          <a:p>
            <a:pPr>
              <a:spcAft>
                <a:spcPts val="200"/>
              </a:spcAft>
              <a:defRPr sz="1200">
                <a:solidFill>
                  <a:srgbClr val="525F6C"/>
                </a:solidFill>
                <a:latin typeface="Aptos"/>
              </a:defRPr>
            </a:pPr>
            <a:r>
              <a:t>Credentials loaded only from config.json or environment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3310128" y="857250"/>
            <a:ext cx="2514600" cy="1371600"/>
          </a:xfrm>
          <a:prstGeom prst="roundRect">
            <a:avLst/>
          </a:prstGeom>
          <a:solidFill>
            <a:srgbClr val="F2F7FA"/>
          </a:solidFill>
          <a:ln>
            <a:solidFill>
              <a:srgbClr val="D2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3310128" y="857250"/>
            <a:ext cx="73152" cy="1371600"/>
          </a:xfrm>
          <a:prstGeom prst="rect">
            <a:avLst/>
          </a:prstGeom>
          <a:solidFill>
            <a:srgbClr val="238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3474720" y="939546"/>
            <a:ext cx="2258568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183757"/>
                </a:solidFill>
                <a:latin typeface="Aptos"/>
              </a:defRPr>
            </a:pPr>
            <a:r>
              <a:t>VALIDATION MODE</a:t>
            </a:r>
          </a:p>
          <a:p>
            <a:pPr>
              <a:spcAft>
                <a:spcPts val="200"/>
              </a:spcAft>
              <a:defRPr sz="1200">
                <a:solidFill>
                  <a:srgbClr val="525F6C"/>
                </a:solidFill>
                <a:latin typeface="Aptos"/>
              </a:defRPr>
            </a:pPr>
            <a:r>
              <a:t>The executed submission used a deterministic offline fallback because no credentials were attached. This makes the evaluation reproducible and still exercises the complete graph.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6025896" y="857250"/>
            <a:ext cx="2514600" cy="1371600"/>
          </a:xfrm>
          <a:prstGeom prst="roundRect">
            <a:avLst/>
          </a:prstGeom>
          <a:solidFill>
            <a:srgbClr val="F2F7FA"/>
          </a:solidFill>
          <a:ln>
            <a:solidFill>
              <a:srgbClr val="D2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6025896" y="857250"/>
            <a:ext cx="73152" cy="13716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6190488" y="939546"/>
            <a:ext cx="2258568" cy="1234440"/>
          </a:xfrm>
          <a:prstGeom prst="rect">
            <a:avLst/>
          </a:prstGeom>
          <a:noFill/>
        </p:spPr>
        <p:txBody>
          <a:bodyPr wrap="square" lIns="18288" rIns="27432" tIns="13716" bIns="13716" anchor="t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20" b="1">
                <a:solidFill>
                  <a:srgbClr val="183757"/>
                </a:solidFill>
                <a:latin typeface="Aptos"/>
              </a:rPr>
              <a:t>RETRIEVAL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33495D"/>
                </a:solidFill>
                <a:latin typeface="Aptos"/>
              </a:rPr>
              <a:t>ChromaDB cosine search over 24 local TF-IDF vectors returns ranked policy chunks with source-page metadata.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33495D"/>
                </a:solidFill>
                <a:latin typeface="Aptos"/>
              </a:rPr>
              <a:t>No external embedding download is required.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731520" y="2606040"/>
            <a:ext cx="7772400" cy="144018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25F6C"/>
                </a:solidFill>
                <a:latin typeface="Aptos"/>
              </a:defRPr>
            </a:pPr>
            <a:r>
              <a:t>• Pydantic schemas enforce valid Resolution, Communication, and Critic outputs.</a:t>
            </a:r>
          </a:p>
          <a:p>
            <a:pPr>
              <a:spcAft>
                <a:spcPts val="700"/>
              </a:spcAft>
              <a:defRPr sz="1500" b="0">
                <a:solidFill>
                  <a:srgbClr val="525F6C"/>
                </a:solidFill>
                <a:latin typeface="Aptos"/>
              </a:defRPr>
            </a:pPr>
            <a:r>
              <a:t>• Temperature 0.0 is used to reduce variance in structured decisions.</a:t>
            </a:r>
          </a:p>
          <a:p>
            <a:pPr>
              <a:spcAft>
                <a:spcPts val="700"/>
              </a:spcAft>
              <a:defRPr sz="1500" b="0">
                <a:solidFill>
                  <a:srgbClr val="525F6C"/>
                </a:solidFill>
                <a:latin typeface="Aptos"/>
              </a:defRPr>
            </a:pPr>
            <a:r>
              <a:t>• The notebook supports remote LLM execution when a valid config.json is supplied, but never hard-codes credentials.</a:t>
            </a:r>
          </a:p>
          <a:p>
            <a:pPr>
              <a:spcAft>
                <a:spcPts val="700"/>
              </a:spcAft>
              <a:defRPr sz="1500" b="0">
                <a:solidFill>
                  <a:srgbClr val="525F6C"/>
                </a:solidFill>
                <a:latin typeface="Aptos"/>
              </a:defRPr>
            </a:pPr>
            <a:r>
              <a:t>• The offline path is explicitly labeled in the exported results as runtime_mode=offline_fallback.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0" y="4834890"/>
            <a:ext cx="9144000" cy="13716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502920" y="4855464"/>
            <a:ext cx="8138160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00">
                <a:solidFill>
                  <a:srgbClr val="525F6C"/>
                </a:solidFill>
                <a:latin typeface="Aptos"/>
              </a:defRPr>
            </a:pPr>
            <a:r>
              <a:t>Project 3 | Low-Code Delivery Exception Resolution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Box 223"/>
          <p:cNvSpPr txBox="1"/>
          <p:nvPr/>
        </p:nvSpPr>
        <p:spPr>
          <a:xfrm>
            <a:off x="502920" y="171450"/>
            <a:ext cx="7178040" cy="3771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83757"/>
                </a:solidFill>
                <a:latin typeface="Aptos Display"/>
              </a:defRPr>
            </a:pPr>
            <a:r>
              <a:t>Defining Tools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685800" y="788670"/>
            <a:ext cx="7726679" cy="493776"/>
          </a:xfrm>
          <a:prstGeom prst="roundRect">
            <a:avLst/>
          </a:prstGeom>
          <a:solidFill>
            <a:srgbClr val="F2F7FA"/>
          </a:solidFill>
          <a:ln>
            <a:solidFill>
              <a:srgbClr val="D2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685800" y="788670"/>
            <a:ext cx="73152" cy="493776"/>
          </a:xfrm>
          <a:prstGeom prst="rect">
            <a:avLst/>
          </a:prstGeom>
          <a:solidFill>
            <a:srgbClr val="2D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850392" y="870966"/>
            <a:ext cx="7470648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1">
                <a:solidFill>
                  <a:srgbClr val="183757"/>
                </a:solidFill>
                <a:latin typeface="Aptos"/>
              </a:defRPr>
            </a:pPr>
            <a:r>
              <a:t>Delivery Log Reader</a:t>
            </a:r>
          </a:p>
          <a:p>
            <a:pPr>
              <a:spcAft>
                <a:spcPts val="200"/>
              </a:spcAft>
              <a:defRPr sz="1100">
                <a:solidFill>
                  <a:srgbClr val="525F6C"/>
                </a:solidFill>
                <a:latin typeface="Aptos"/>
              </a:defRPr>
            </a:pPr>
            <a:r>
              <a:t>Reads all raw CSV rows and feeds the preprocessor.</a:t>
            </a:r>
          </a:p>
        </p:txBody>
      </p:sp>
      <p:sp>
        <p:nvSpPr>
          <p:cNvPr id="228" name="Rounded Rectangle 227"/>
          <p:cNvSpPr/>
          <p:nvPr/>
        </p:nvSpPr>
        <p:spPr>
          <a:xfrm>
            <a:off x="685800" y="1440178"/>
            <a:ext cx="7726679" cy="493776"/>
          </a:xfrm>
          <a:prstGeom prst="roundRect">
            <a:avLst/>
          </a:prstGeom>
          <a:solidFill>
            <a:srgbClr val="F2F7FA"/>
          </a:solidFill>
          <a:ln>
            <a:solidFill>
              <a:srgbClr val="D2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685800" y="1440178"/>
            <a:ext cx="73152" cy="493776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850392" y="1522474"/>
            <a:ext cx="7470648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1">
                <a:solidFill>
                  <a:srgbClr val="183757"/>
                </a:solidFill>
                <a:latin typeface="Aptos"/>
              </a:defRPr>
            </a:pPr>
            <a:r>
              <a:t>Customer Profile Lookup</a:t>
            </a:r>
          </a:p>
          <a:p>
            <a:pPr>
              <a:spcAft>
                <a:spcPts val="200"/>
              </a:spcAft>
              <a:defRPr sz="1100">
                <a:solidFill>
                  <a:srgbClr val="525F6C"/>
                </a:solidFill>
                <a:latin typeface="Aptos"/>
              </a:defRPr>
            </a:pPr>
            <a:r>
              <a:t>Parameterized SQLite query; PII name is returned only with explicit include_pii=True.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685800" y="2091690"/>
            <a:ext cx="7726679" cy="493776"/>
          </a:xfrm>
          <a:prstGeom prst="roundRect">
            <a:avLst/>
          </a:prstGeom>
          <a:solidFill>
            <a:srgbClr val="F2F7FA"/>
          </a:solidFill>
          <a:ln>
            <a:solidFill>
              <a:srgbClr val="D2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685800" y="2091690"/>
            <a:ext cx="73152" cy="493776"/>
          </a:xfrm>
          <a:prstGeom prst="rect">
            <a:avLst/>
          </a:prstGeom>
          <a:solidFill>
            <a:srgbClr val="238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850392" y="2173986"/>
            <a:ext cx="7470648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1">
                <a:solidFill>
                  <a:srgbClr val="183757"/>
                </a:solidFill>
                <a:latin typeface="Aptos"/>
              </a:defRPr>
            </a:pPr>
            <a:r>
              <a:t>Locker Availability Checker</a:t>
            </a:r>
          </a:p>
          <a:p>
            <a:pPr>
              <a:spcAft>
                <a:spcPts val="200"/>
              </a:spcAft>
              <a:defRPr sz="1100">
                <a:solidFill>
                  <a:srgbClr val="525F6C"/>
                </a:solidFill>
                <a:latin typeface="Aptos"/>
              </a:defRPr>
            </a:pPr>
            <a:r>
              <a:t>Checks ZIP, size capacity, FULL/LIMITED status, and returns eligibility plus reason.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685800" y="2743198"/>
            <a:ext cx="7726679" cy="493776"/>
          </a:xfrm>
          <a:prstGeom prst="roundRect">
            <a:avLst/>
          </a:prstGeom>
          <a:solidFill>
            <a:srgbClr val="F2F7FA"/>
          </a:solidFill>
          <a:ln>
            <a:solidFill>
              <a:srgbClr val="D2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685800" y="2743198"/>
            <a:ext cx="73152" cy="493776"/>
          </a:xfrm>
          <a:prstGeom prst="rect">
            <a:avLst/>
          </a:prstGeom>
          <a:solidFill>
            <a:srgbClr val="D27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850392" y="2825494"/>
            <a:ext cx="7470648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1">
                <a:solidFill>
                  <a:srgbClr val="183757"/>
                </a:solidFill>
                <a:latin typeface="Aptos"/>
              </a:defRPr>
            </a:pPr>
            <a:r>
              <a:t>Playbook Search</a:t>
            </a:r>
          </a:p>
          <a:p>
            <a:pPr>
              <a:spcAft>
                <a:spcPts val="200"/>
              </a:spcAft>
              <a:defRPr sz="1100">
                <a:solidFill>
                  <a:srgbClr val="525F6C"/>
                </a:solidFill>
                <a:latin typeface="Aptos"/>
              </a:defRPr>
            </a:pPr>
            <a:r>
              <a:t>Retrieves relevant page-aware policy chunks for the Resolution and Critic agents.</a:t>
            </a:r>
          </a:p>
        </p:txBody>
      </p:sp>
      <p:sp>
        <p:nvSpPr>
          <p:cNvPr id="237" name="Rounded Rectangle 236"/>
          <p:cNvSpPr/>
          <p:nvPr/>
        </p:nvSpPr>
        <p:spPr>
          <a:xfrm>
            <a:off x="685800" y="3394708"/>
            <a:ext cx="7726679" cy="493776"/>
          </a:xfrm>
          <a:prstGeom prst="roundRect">
            <a:avLst/>
          </a:prstGeom>
          <a:solidFill>
            <a:srgbClr val="F2F7FA"/>
          </a:solidFill>
          <a:ln>
            <a:solidFill>
              <a:srgbClr val="D2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85800" y="3394708"/>
            <a:ext cx="73152" cy="493776"/>
          </a:xfrm>
          <a:prstGeom prst="rect">
            <a:avLst/>
          </a:prstGeom>
          <a:solidFill>
            <a:srgbClr val="183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850392" y="3477004"/>
            <a:ext cx="7470648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1">
                <a:solidFill>
                  <a:srgbClr val="183757"/>
                </a:solidFill>
                <a:latin typeface="Aptos"/>
              </a:defRPr>
            </a:pPr>
            <a:r>
              <a:t>Escalation Rule Engine</a:t>
            </a:r>
          </a:p>
          <a:p>
            <a:pPr>
              <a:spcAft>
                <a:spcPts val="200"/>
              </a:spcAft>
              <a:defRPr sz="1100">
                <a:solidFill>
                  <a:srgbClr val="525F6C"/>
                </a:solidFill>
                <a:latin typeface="Aptos"/>
              </a:defRPr>
            </a:pPr>
            <a:r>
              <a:t>Deterministically evaluates automatic and discretionary triggers, including delay-hour parsing.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1520" y="4217670"/>
            <a:ext cx="7772400" cy="27432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238254"/>
                </a:solidFill>
                <a:latin typeface="Aptos"/>
              </a:defRPr>
            </a:pPr>
            <a:r>
              <a:t>• Evaluation result: 10/10 scenarios invoked the expected tool path, including the intended noise short-circuit.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0" y="4834890"/>
            <a:ext cx="9144000" cy="13716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502920" y="4855464"/>
            <a:ext cx="8138160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00">
                <a:solidFill>
                  <a:srgbClr val="525F6C"/>
                </a:solidFill>
                <a:latin typeface="Aptos"/>
              </a:defRPr>
            </a:pPr>
            <a:r>
              <a:t>Project 3 | Low-Code Delivery Exception Resolution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extBox 233"/>
          <p:cNvSpPr txBox="1"/>
          <p:nvPr/>
        </p:nvSpPr>
        <p:spPr>
          <a:xfrm>
            <a:off x="502920" y="171450"/>
            <a:ext cx="7178040" cy="3771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83757"/>
                </a:solidFill>
                <a:latin typeface="Aptos Display"/>
              </a:defRPr>
            </a:pPr>
            <a:r>
              <a:t>Multi-Agent System Architecture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685800" y="685800"/>
            <a:ext cx="7772400" cy="24003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525F6C"/>
                </a:solidFill>
                <a:latin typeface="Aptos"/>
              </a:defRPr>
            </a:pPr>
            <a:r>
              <a:t>Hub-and-spoke orchestration keeps routing deterministic while allowing agent outputs to be structured and critic-checked.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411480" y="1405888"/>
            <a:ext cx="1234440" cy="514350"/>
          </a:xfrm>
          <a:prstGeom prst="roundRect">
            <a:avLst/>
          </a:prstGeom>
          <a:solidFill>
            <a:srgbClr val="2D6FA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Preprocessor</a:t>
            </a:r>
          </a:p>
        </p:txBody>
      </p:sp>
      <p:sp>
        <p:nvSpPr>
          <p:cNvPr id="237" name="Rounded Rectangle 236"/>
          <p:cNvSpPr/>
          <p:nvPr/>
        </p:nvSpPr>
        <p:spPr>
          <a:xfrm>
            <a:off x="2057400" y="1405888"/>
            <a:ext cx="1234440" cy="514350"/>
          </a:xfrm>
          <a:prstGeom prst="roundRect">
            <a:avLst/>
          </a:prstGeom>
          <a:solidFill>
            <a:srgbClr val="18375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Orchestrator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3703320" y="994410"/>
            <a:ext cx="1234440" cy="514350"/>
          </a:xfrm>
          <a:prstGeom prst="roundRect">
            <a:avLst/>
          </a:prstGeom>
          <a:solidFill>
            <a:srgbClr val="008B8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Resolution</a:t>
            </a:r>
            <a:br/>
            <a:r>
              <a:t>Agent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3703320" y="1851660"/>
            <a:ext cx="1234440" cy="514350"/>
          </a:xfrm>
          <a:prstGeom prst="roundRect">
            <a:avLst/>
          </a:prstGeom>
          <a:solidFill>
            <a:srgbClr val="D2732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Resolution</a:t>
            </a:r>
            <a:br/>
            <a:r>
              <a:t>Critic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5486400" y="994410"/>
            <a:ext cx="1234440" cy="514350"/>
          </a:xfrm>
          <a:prstGeom prst="roundRect">
            <a:avLst/>
          </a:prstGeom>
          <a:solidFill>
            <a:srgbClr val="23825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Communication</a:t>
            </a:r>
            <a:br/>
            <a:r>
              <a:t>Agent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5486400" y="1851660"/>
            <a:ext cx="1234440" cy="514350"/>
          </a:xfrm>
          <a:prstGeom prst="roundRect">
            <a:avLst/>
          </a:prstGeom>
          <a:solidFill>
            <a:srgbClr val="D2732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Communication</a:t>
            </a:r>
            <a:br/>
            <a:r>
              <a:t>Critic</a:t>
            </a:r>
          </a:p>
        </p:txBody>
      </p:sp>
      <p:sp>
        <p:nvSpPr>
          <p:cNvPr id="242" name="Rounded Rectangle 241"/>
          <p:cNvSpPr/>
          <p:nvPr/>
        </p:nvSpPr>
        <p:spPr>
          <a:xfrm>
            <a:off x="7269480" y="1405888"/>
            <a:ext cx="1234440" cy="514350"/>
          </a:xfrm>
          <a:prstGeom prst="roundRect">
            <a:avLst/>
          </a:prstGeom>
          <a:solidFill>
            <a:srgbClr val="18375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Finalize</a:t>
            </a:r>
          </a:p>
        </p:txBody>
      </p:sp>
      <p:cxnSp>
        <p:nvCxnSpPr>
          <p:cNvPr id="243" name="Connector 242"/>
          <p:cNvCxnSpPr/>
          <p:nvPr/>
        </p:nvCxnSpPr>
        <p:spPr>
          <a:xfrm>
            <a:off x="1645920" y="1659636"/>
            <a:ext cx="411480" cy="0"/>
          </a:xfrm>
          <a:prstGeom prst="line">
            <a:avLst/>
          </a:prstGeom>
          <a:ln w="19050">
            <a:solidFill>
              <a:srgbClr val="525F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 flipV="1">
            <a:off x="3291840" y="1248156"/>
            <a:ext cx="411480" cy="411480"/>
          </a:xfrm>
          <a:prstGeom prst="line">
            <a:avLst/>
          </a:prstGeom>
          <a:ln w="19050">
            <a:solidFill>
              <a:srgbClr val="525F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3291840" y="1659636"/>
            <a:ext cx="411480" cy="445770"/>
          </a:xfrm>
          <a:prstGeom prst="line">
            <a:avLst/>
          </a:prstGeom>
          <a:ln w="19050">
            <a:solidFill>
              <a:srgbClr val="525F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4937760" y="1248156"/>
            <a:ext cx="548640" cy="0"/>
          </a:xfrm>
          <a:prstGeom prst="line">
            <a:avLst/>
          </a:prstGeom>
          <a:ln w="19050">
            <a:solidFill>
              <a:srgbClr val="525F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4937760" y="2105406"/>
            <a:ext cx="548640" cy="0"/>
          </a:xfrm>
          <a:prstGeom prst="line">
            <a:avLst/>
          </a:prstGeom>
          <a:ln w="19050">
            <a:solidFill>
              <a:srgbClr val="525F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6720840" y="1248156"/>
            <a:ext cx="548640" cy="411480"/>
          </a:xfrm>
          <a:prstGeom prst="line">
            <a:avLst/>
          </a:prstGeom>
          <a:ln w="19050">
            <a:solidFill>
              <a:srgbClr val="525F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9" name="TextBox 248"/>
          <p:cNvSpPr txBox="1"/>
          <p:nvPr/>
        </p:nvSpPr>
        <p:spPr>
          <a:xfrm>
            <a:off x="731520" y="2880360"/>
            <a:ext cx="7772400" cy="150876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5F6C"/>
                </a:solidFill>
                <a:latin typeface="Aptos"/>
              </a:defRPr>
            </a:pPr>
            <a:r>
              <a:t>• Prompts: policy-grounded resolution, tier-aware communication, resolution validation, communication validation, and 1–5 trajectory coherence judging.</a:t>
            </a:r>
          </a:p>
          <a:p>
            <a:pPr>
              <a:spcAft>
                <a:spcPts val="500"/>
              </a:spcAft>
              <a:defRPr sz="1200" b="0">
                <a:solidFill>
                  <a:srgbClr val="525F6C"/>
                </a:solidFill>
                <a:latin typeface="Aptos"/>
              </a:defRPr>
            </a:pPr>
            <a:r>
              <a:t>• Escalation: automatic triggers (third attempt, VIP ≥3 exceptions, damaged perishables, suspected fraud, safety) plus discretionary triggers (high-history Standard and delayed Premium perishables).</a:t>
            </a:r>
          </a:p>
          <a:p>
            <a:pPr>
              <a:spcAft>
                <a:spcPts val="500"/>
              </a:spcAft>
              <a:defRPr sz="1200" b="0">
                <a:solidFill>
                  <a:srgbClr val="525F6C"/>
                </a:solidFill>
                <a:latin typeface="Aptos"/>
              </a:defRPr>
            </a:pPr>
            <a:r>
              <a:t>• Security: parameterized SQL, default PII redaction, prompt-injection scanning before LLM calls, no raw PII in coherence judging, and safe fallback escalation.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0" y="4834890"/>
            <a:ext cx="9144000" cy="13716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502920" y="4855464"/>
            <a:ext cx="8138160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00">
                <a:solidFill>
                  <a:srgbClr val="525F6C"/>
                </a:solidFill>
                <a:latin typeface="Aptos"/>
              </a:defRPr>
            </a:pPr>
            <a:r>
              <a:t>Project 3 | Low-Code Delivery Exception Resolution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extBox 251"/>
          <p:cNvSpPr txBox="1"/>
          <p:nvPr/>
        </p:nvSpPr>
        <p:spPr>
          <a:xfrm>
            <a:off x="502920" y="171450"/>
            <a:ext cx="7178040" cy="3771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83757"/>
                </a:solidFill>
                <a:latin typeface="Aptos Display"/>
              </a:defRPr>
            </a:pPr>
            <a:r>
              <a:t>Test Cases Execution, Evaluation, and Observability</a:t>
            </a:r>
          </a:p>
        </p:txBody>
      </p:sp>
      <p:sp>
        <p:nvSpPr>
          <p:cNvPr id="253" name="Rounded Rectangle 252"/>
          <p:cNvSpPr/>
          <p:nvPr/>
        </p:nvSpPr>
        <p:spPr>
          <a:xfrm>
            <a:off x="594360" y="788670"/>
            <a:ext cx="2468880" cy="1200150"/>
          </a:xfrm>
          <a:prstGeom prst="roundRect">
            <a:avLst/>
          </a:prstGeom>
          <a:solidFill>
            <a:srgbClr val="F2F7FA"/>
          </a:solidFill>
          <a:ln>
            <a:solidFill>
              <a:srgbClr val="D2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594360" y="788670"/>
            <a:ext cx="73152" cy="1200150"/>
          </a:xfrm>
          <a:prstGeom prst="rect">
            <a:avLst/>
          </a:prstGeom>
          <a:solidFill>
            <a:srgbClr val="238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758952" y="870966"/>
            <a:ext cx="2212848" cy="1062990"/>
          </a:xfrm>
          <a:prstGeom prst="rect">
            <a:avLst/>
          </a:prstGeom>
          <a:noFill/>
        </p:spPr>
        <p:txBody>
          <a:bodyPr wrap="square" lIns="18288" rIns="27432" tIns="13716" bIns="13716" anchor="t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20" b="1">
                <a:solidFill>
                  <a:srgbClr val="183757"/>
                </a:solidFill>
                <a:latin typeface="Aptos"/>
              </a:rPr>
              <a:t>AGGREGATE METRICS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33495D"/>
                </a:solidFill>
                <a:latin typeface="Aptos"/>
              </a:rPr>
              <a:t>Task completion: 100%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33495D"/>
                </a:solidFill>
                <a:latin typeface="Aptos"/>
              </a:rPr>
              <a:t>Escalation accuracy: 100% (8/8)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33495D"/>
                </a:solidFill>
                <a:latin typeface="Aptos"/>
              </a:rPr>
              <a:t>Tool-call accuracy: 100%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33495D"/>
                </a:solidFill>
                <a:latin typeface="Aptos"/>
              </a:rPr>
              <a:t>Coherence: 5.00 / 5 (offline checklist)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33495D"/>
                </a:solidFill>
                <a:latin typeface="Aptos"/>
              </a:rPr>
              <a:t>Offline latency: 0.01s (not a production benchmark)</a:t>
            </a:r>
          </a:p>
        </p:txBody>
      </p:sp>
      <p:sp>
        <p:nvSpPr>
          <p:cNvPr id="256" name="Rounded Rectangle 255"/>
          <p:cNvSpPr/>
          <p:nvPr/>
        </p:nvSpPr>
        <p:spPr>
          <a:xfrm>
            <a:off x="3337560" y="788670"/>
            <a:ext cx="2468880" cy="1200150"/>
          </a:xfrm>
          <a:prstGeom prst="roundRect">
            <a:avLst/>
          </a:prstGeom>
          <a:solidFill>
            <a:srgbClr val="F2F7FA"/>
          </a:solidFill>
          <a:ln>
            <a:solidFill>
              <a:srgbClr val="D2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3337560" y="788670"/>
            <a:ext cx="73152" cy="1200150"/>
          </a:xfrm>
          <a:prstGeom prst="rect">
            <a:avLst/>
          </a:prstGeom>
          <a:solidFill>
            <a:srgbClr val="2D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3502152" y="870966"/>
            <a:ext cx="2212848" cy="10629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183757"/>
                </a:solidFill>
                <a:latin typeface="Aptos"/>
              </a:defRPr>
            </a:pPr>
            <a:r>
              <a:t>OBSERVABILITY</a:t>
            </a:r>
          </a:p>
          <a:p>
            <a:pPr>
              <a:spcAft>
                <a:spcPts val="200"/>
              </a:spcAft>
              <a:defRPr sz="1200">
                <a:solidFill>
                  <a:srgbClr val="525F6C"/>
                </a:solidFill>
                <a:latin typeface="Aptos"/>
              </a:defRPr>
            </a:pPr>
            <a:r>
              <a:t>Every exception trace records tool calls, agent decisions, critic decisions, escalation signals, latency, and retrieved playbook page citations.</a:t>
            </a:r>
          </a:p>
        </p:txBody>
      </p:sp>
      <p:sp>
        <p:nvSpPr>
          <p:cNvPr id="259" name="Rounded Rectangle 258"/>
          <p:cNvSpPr/>
          <p:nvPr/>
        </p:nvSpPr>
        <p:spPr>
          <a:xfrm>
            <a:off x="6080760" y="788670"/>
            <a:ext cx="2468880" cy="1200150"/>
          </a:xfrm>
          <a:prstGeom prst="roundRect">
            <a:avLst/>
          </a:prstGeom>
          <a:solidFill>
            <a:srgbClr val="F2F7FA"/>
          </a:solidFill>
          <a:ln>
            <a:solidFill>
              <a:srgbClr val="D2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6080760" y="788670"/>
            <a:ext cx="73152" cy="120015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6245352" y="870966"/>
            <a:ext cx="2212848" cy="10629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183757"/>
                </a:solidFill>
                <a:latin typeface="Aptos"/>
              </a:defRPr>
            </a:pPr>
            <a:r>
              <a:t>ACCURACY COMMENT</a:t>
            </a:r>
          </a:p>
          <a:p>
            <a:pPr>
              <a:spcAft>
                <a:spcPts val="200"/>
              </a:spcAft>
              <a:defRPr sz="1200">
                <a:solidFill>
                  <a:srgbClr val="525F6C"/>
                </a:solidFill>
                <a:latin typeface="Aptos"/>
              </a:defRPr>
            </a:pPr>
            <a:r>
              <a:t>All expected resolutions, tones, exception classifications, and escalation decisions match the supplied ground truth for the 10 unique scenarios.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731520" y="2297430"/>
            <a:ext cx="7772400" cy="219456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525F6C"/>
                </a:solidFill>
                <a:latin typeface="Aptos"/>
              </a:defRPr>
            </a:pPr>
            <a:r>
              <a:t>• SHP-001 Delivered → noise / no action</a:t>
            </a:r>
          </a:p>
          <a:p>
            <a:pPr>
              <a:spcAft>
                <a:spcPts val="200"/>
              </a:spcAft>
              <a:defRPr sz="1200" b="0">
                <a:solidFill>
                  <a:srgbClr val="525F6C"/>
                </a:solidFill>
                <a:latin typeface="Aptos"/>
              </a:defRPr>
            </a:pPr>
            <a:r>
              <a:t>• SHP-002 VIP attempts → reschedule / escalate</a:t>
            </a:r>
          </a:p>
          <a:p>
            <a:pPr>
              <a:spcAft>
                <a:spcPts val="200"/>
              </a:spcAft>
              <a:defRPr sz="1200" b="0">
                <a:solidFill>
                  <a:srgbClr val="525F6C"/>
                </a:solidFill>
                <a:latin typeface="Aptos"/>
              </a:defRPr>
            </a:pPr>
            <a:r>
              <a:t>• SHP-003 Address issue → reschedule</a:t>
            </a:r>
          </a:p>
          <a:p>
            <a:pPr>
              <a:spcAft>
                <a:spcPts val="200"/>
              </a:spcAft>
              <a:defRPr sz="1200" b="0">
                <a:solidFill>
                  <a:srgbClr val="525F6C"/>
                </a:solidFill>
                <a:latin typeface="Aptos"/>
              </a:defRPr>
            </a:pPr>
            <a:r>
              <a:t>• SHP-004 VIP fragile damage → replace / escalate</a:t>
            </a:r>
          </a:p>
          <a:p>
            <a:pPr>
              <a:spcAft>
                <a:spcPts val="200"/>
              </a:spcAft>
              <a:defRPr sz="1200" b="0">
                <a:solidFill>
                  <a:srgbClr val="525F6C"/>
                </a:solidFill>
                <a:latin typeface="Aptos"/>
              </a:defRPr>
            </a:pPr>
            <a:r>
              <a:t>• SHP-005 Third attempt → locker reroute / escalate</a:t>
            </a:r>
          </a:p>
          <a:p>
            <a:pPr>
              <a:spcAft>
                <a:spcPts val="200"/>
              </a:spcAft>
              <a:defRPr sz="1200" b="0">
                <a:solidFill>
                  <a:srgbClr val="525F6C"/>
                </a:solidFill>
                <a:latin typeface="Aptos"/>
              </a:defRPr>
            </a:pPr>
            <a:r>
              <a:t>• SHP-006 Refused → return to sender</a:t>
            </a:r>
          </a:p>
          <a:p>
            <a:pPr>
              <a:spcAft>
                <a:spcPts val="200"/>
              </a:spcAft>
              <a:defRPr sz="1200" b="0">
                <a:solidFill>
                  <a:srgbClr val="525F6C"/>
                </a:solidFill>
                <a:latin typeface="Aptos"/>
              </a:defRPr>
            </a:pPr>
            <a:r>
              <a:t>• SHP-007 Perishable weather &gt;4h → replace / escalate</a:t>
            </a:r>
          </a:p>
          <a:p>
            <a:pPr>
              <a:spcAft>
                <a:spcPts val="200"/>
              </a:spcAft>
              <a:defRPr sz="1200" b="0">
                <a:solidFill>
                  <a:srgbClr val="525F6C"/>
                </a:solidFill>
                <a:latin typeface="Aptos"/>
              </a:defRPr>
            </a:pPr>
            <a:r>
              <a:t>• SHP-008 Standard high history → reschedule / escalate</a:t>
            </a:r>
          </a:p>
          <a:p>
            <a:pPr>
              <a:spcAft>
                <a:spcPts val="200"/>
              </a:spcAft>
              <a:defRPr sz="1200" b="0">
                <a:solidFill>
                  <a:srgbClr val="525F6C"/>
                </a:solidFill>
                <a:latin typeface="Aptos"/>
              </a:defRPr>
            </a:pPr>
            <a:r>
              <a:t>• SHP-009 Damaged perishable → replace / escalate</a:t>
            </a:r>
          </a:p>
          <a:p>
            <a:pPr>
              <a:spcAft>
                <a:spcPts val="200"/>
              </a:spcAft>
              <a:defRPr sz="1200" b="0">
                <a:solidFill>
                  <a:srgbClr val="525F6C"/>
                </a:solidFill>
                <a:latin typeface="Aptos"/>
              </a:defRPr>
            </a:pPr>
            <a:r>
              <a:t>• SHP-010 Depot scan → noise / no action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0" y="4834890"/>
            <a:ext cx="9144000" cy="13716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502920" y="4855464"/>
            <a:ext cx="8138160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00">
                <a:solidFill>
                  <a:srgbClr val="525F6C"/>
                </a:solidFill>
                <a:latin typeface="Aptos"/>
              </a:defRPr>
            </a:pPr>
            <a:r>
              <a:t>Project 3 | Low-Code Delivery Exception Resolution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3757"/>
        </a:solidFill>
        <a:effectLst/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Rectangle 267"/>
          <p:cNvSpPr/>
          <p:nvPr/>
        </p:nvSpPr>
        <p:spPr>
          <a:xfrm>
            <a:off x="0" y="4011930"/>
            <a:ext cx="9144000" cy="7543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685800" y="1508760"/>
            <a:ext cx="77724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APPENDIX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731520" y="2228850"/>
            <a:ext cx="7498079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>
                <a:solidFill>
                  <a:srgbClr val="C4E0E8"/>
                </a:solidFill>
                <a:latin typeface="Aptos"/>
              </a:defRPr>
            </a:pPr>
            <a:r>
              <a:t>Detailed scenario outcomes, citations, and submission checklist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TextBox 273"/>
          <p:cNvSpPr txBox="1"/>
          <p:nvPr/>
        </p:nvSpPr>
        <p:spPr>
          <a:xfrm>
            <a:off x="502920" y="171450"/>
            <a:ext cx="7178040" cy="3771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83757"/>
                </a:solidFill>
                <a:latin typeface="Aptos Display"/>
              </a:defRPr>
            </a:pPr>
            <a:r>
              <a:t>Appendix: Detailed Evaluation Results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0" y="4834890"/>
            <a:ext cx="9144000" cy="13716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502920" y="4855464"/>
            <a:ext cx="8138160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00">
                <a:solidFill>
                  <a:srgbClr val="525F6C"/>
                </a:solidFill>
                <a:latin typeface="Aptos"/>
              </a:defRPr>
            </a:pPr>
            <a:r>
              <a:t>Project 3 | Low-Code Delivery Exception Resolution</a:t>
            </a:r>
          </a:p>
        </p:txBody>
      </p:sp>
      <p:graphicFrame>
        <p:nvGraphicFramePr>
          <p:cNvPr id="279" name="Table 278"/>
          <p:cNvGraphicFramePr>
            <a:graphicFrameLocks noGrp="1"/>
          </p:cNvGraphicFramePr>
          <p:nvPr/>
        </p:nvGraphicFramePr>
        <p:xfrm>
          <a:off x="320040" y="786384"/>
          <a:ext cx="8503920" cy="3803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"/>
                <a:gridCol w="1307592"/>
                <a:gridCol w="640080"/>
                <a:gridCol w="502920"/>
                <a:gridCol w="512064"/>
                <a:gridCol w="768096"/>
                <a:gridCol w="2953512"/>
                <a:gridCol w="1106424"/>
              </a:tblGrid>
              <a:tr h="365760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Shipment</a:t>
                      </a:r>
                    </a:p>
                  </a:txBody>
                  <a:tcPr marL="50292" marR="50292" marT="32004" marB="22860" anchor="ctr">
                    <a:solidFill>
                      <a:srgbClr val="18375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Outcome / tone</a:t>
                      </a:r>
                    </a:p>
                  </a:txBody>
                  <a:tcPr marL="50292" marR="50292" marT="32004" marB="22860" anchor="ctr">
                    <a:solidFill>
                      <a:srgbClr val="18375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Esc.</a:t>
                      </a:r>
                    </a:p>
                  </a:txBody>
                  <a:tcPr marL="50292" marR="50292" marT="32004" marB="22860" anchor="ctr">
                    <a:solidFill>
                      <a:srgbClr val="18375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Task</a:t>
                      </a:r>
                    </a:p>
                  </a:txBody>
                  <a:tcPr marL="50292" marR="50292" marT="32004" marB="22860" anchor="ctr">
                    <a:solidFill>
                      <a:srgbClr val="18375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Tools</a:t>
                      </a:r>
                    </a:p>
                  </a:txBody>
                  <a:tcPr marL="50292" marR="50292" marT="32004" marB="22860" anchor="ctr">
                    <a:solidFill>
                      <a:srgbClr val="18375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Coherence</a:t>
                      </a:r>
                    </a:p>
                  </a:txBody>
                  <a:tcPr marL="50292" marR="50292" marT="32004" marB="22860" anchor="ctr">
                    <a:solidFill>
                      <a:srgbClr val="18375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Trace / observation</a:t>
                      </a:r>
                    </a:p>
                  </a:txBody>
                  <a:tcPr marL="50292" marR="50292" marT="32004" marB="22860" anchor="ctr">
                    <a:solidFill>
                      <a:srgbClr val="18375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Playbook</a:t>
                      </a:r>
                    </a:p>
                  </a:txBody>
                  <a:tcPr marL="50292" marR="50292" marT="32004" marB="22860" anchor="ctr">
                    <a:solidFill>
                      <a:srgbClr val="183757"/>
                    </a:solidFill>
                  </a:tcPr>
                </a:tc>
              </a:tr>
              <a:tr h="343814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SHP-001</a:t>
                      </a:r>
                    </a:p>
                  </a:txBody>
                  <a:tcPr marL="50292" marR="50292" marT="32004" marB="22860" anchor="ctr">
                    <a:solidFill>
                      <a:srgbClr val="F2F7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83757"/>
                          </a:solidFill>
                          <a:latin typeface="Aptos"/>
                        </a:rPr>
                        <a:t>NO EXCEPTION / —</a:t>
                      </a:r>
                    </a:p>
                  </a:txBody>
                  <a:tcPr marL="50292" marR="50292" marT="32004" marB="22860" anchor="ctr">
                    <a:solidFill>
                      <a:srgbClr val="F2F7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N/A</a:t>
                      </a:r>
                    </a:p>
                  </a:txBody>
                  <a:tcPr marL="50292" marR="50292" marT="32004" marB="22860" anchor="ctr">
                    <a:solidFill>
                      <a:srgbClr val="F2F7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0292" marR="50292" marT="32004" marB="22860" anchor="ctr">
                    <a:solidFill>
                      <a:srgbClr val="F2F7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0292" marR="50292" marT="32004" marB="22860" anchor="ctr">
                    <a:solidFill>
                      <a:srgbClr val="F2F7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5/5</a:t>
                      </a:r>
                    </a:p>
                  </a:txBody>
                  <a:tcPr marL="50292" marR="50292" marT="32004" marB="22860" anchor="ctr">
                    <a:solidFill>
                      <a:srgbClr val="F2F7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83757"/>
                          </a:solidFill>
                          <a:latin typeface="Aptos"/>
                        </a:rPr>
                        <a:t>Preprocessor → delivered-noise gate → finalize.</a:t>
                      </a:r>
                    </a:p>
                  </a:txBody>
                  <a:tcPr marL="50292" marR="50292" marT="32004" marB="22860" anchor="ctr">
                    <a:solidFill>
                      <a:srgbClr val="F2F7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83757"/>
                          </a:solidFill>
                          <a:latin typeface="Aptos"/>
                        </a:rPr>
                        <a:t>N/A</a:t>
                      </a:r>
                    </a:p>
                  </a:txBody>
                  <a:tcPr marL="50292" marR="50292" marT="32004" marB="22860" anchor="ctr">
                    <a:solidFill>
                      <a:srgbClr val="F2F7FA"/>
                    </a:solidFill>
                  </a:tcPr>
                </a:tc>
              </a:tr>
              <a:tr h="343814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SHP-002</a:t>
                      </a:r>
                    </a:p>
                  </a:txBody>
                  <a:tcPr marL="50292" marR="50292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83757"/>
                          </a:solidFill>
                          <a:latin typeface="Aptos"/>
                        </a:rPr>
                        <a:t>RESCHEDULE / formal</a:t>
                      </a:r>
                    </a:p>
                  </a:txBody>
                  <a:tcPr marL="50292" marR="50292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0292" marR="50292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0292" marR="50292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0292" marR="50292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5/5</a:t>
                      </a:r>
                    </a:p>
                  </a:txBody>
                  <a:tcPr marL="50292" marR="50292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83757"/>
                          </a:solidFill>
                          <a:latin typeface="Aptos"/>
                        </a:rPr>
                        <a:t>Dedup → profile/RAG → reschedule → critics → escalate.</a:t>
                      </a:r>
                    </a:p>
                  </a:txBody>
                  <a:tcPr marL="50292" marR="50292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83757"/>
                          </a:solidFill>
                          <a:latin typeface="Aptos"/>
                        </a:rPr>
                        <a:t>P2, 5, 6</a:t>
                      </a:r>
                    </a:p>
                  </a:txBody>
                  <a:tcPr marL="50292" marR="50292" marT="32004" marB="22860" anchor="ctr">
                    <a:solidFill>
                      <a:srgbClr val="FFFFFF"/>
                    </a:solidFill>
                  </a:tcPr>
                </a:tc>
              </a:tr>
              <a:tr h="343814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SHP-003</a:t>
                      </a:r>
                    </a:p>
                  </a:txBody>
                  <a:tcPr marL="50292" marR="50292" marT="32004" marB="22860" anchor="ctr">
                    <a:solidFill>
                      <a:srgbClr val="F2F7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83757"/>
                          </a:solidFill>
                          <a:latin typeface="Aptos"/>
                        </a:rPr>
                        <a:t>RESCHEDULE / casual</a:t>
                      </a:r>
                    </a:p>
                  </a:txBody>
                  <a:tcPr marL="50292" marR="50292" marT="32004" marB="22860" anchor="ctr">
                    <a:solidFill>
                      <a:srgbClr val="F2F7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0292" marR="50292" marT="32004" marB="22860" anchor="ctr">
                    <a:solidFill>
                      <a:srgbClr val="F2F7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0292" marR="50292" marT="32004" marB="22860" anchor="ctr">
                    <a:solidFill>
                      <a:srgbClr val="F2F7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0292" marR="50292" marT="32004" marB="22860" anchor="ctr">
                    <a:solidFill>
                      <a:srgbClr val="F2F7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5/5</a:t>
                      </a:r>
                    </a:p>
                  </a:txBody>
                  <a:tcPr marL="50292" marR="50292" marT="32004" marB="22860" anchor="ctr">
                    <a:solidFill>
                      <a:srgbClr val="F2F7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83757"/>
                          </a:solidFill>
                          <a:latin typeface="Aptos"/>
                        </a:rPr>
                        <a:t>Profile/RAG → address retry → both critics accept.</a:t>
                      </a:r>
                    </a:p>
                  </a:txBody>
                  <a:tcPr marL="50292" marR="50292" marT="32004" marB="22860" anchor="ctr">
                    <a:solidFill>
                      <a:srgbClr val="F2F7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83757"/>
                          </a:solidFill>
                          <a:latin typeface="Aptos"/>
                        </a:rPr>
                        <a:t>P3, 2, 3</a:t>
                      </a:r>
                    </a:p>
                  </a:txBody>
                  <a:tcPr marL="50292" marR="50292" marT="32004" marB="22860" anchor="ctr">
                    <a:solidFill>
                      <a:srgbClr val="F2F7FA"/>
                    </a:solidFill>
                  </a:tcPr>
                </a:tc>
              </a:tr>
              <a:tr h="343814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SHP-004</a:t>
                      </a:r>
                    </a:p>
                  </a:txBody>
                  <a:tcPr marL="50292" marR="50292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83757"/>
                          </a:solidFill>
                          <a:latin typeface="Aptos"/>
                        </a:rPr>
                        <a:t>REPLACE / formal</a:t>
                      </a:r>
                    </a:p>
                  </a:txBody>
                  <a:tcPr marL="50292" marR="50292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0292" marR="50292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0292" marR="50292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0292" marR="50292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5/5</a:t>
                      </a:r>
                    </a:p>
                  </a:txBody>
                  <a:tcPr marL="50292" marR="50292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83757"/>
                          </a:solidFill>
                          <a:latin typeface="Aptos"/>
                        </a:rPr>
                        <a:t>Profile/RAG → replace → critics → escalate.</a:t>
                      </a:r>
                    </a:p>
                  </a:txBody>
                  <a:tcPr marL="50292" marR="50292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83757"/>
                          </a:solidFill>
                          <a:latin typeface="Aptos"/>
                        </a:rPr>
                        <a:t>P4, 4, 7</a:t>
                      </a:r>
                    </a:p>
                  </a:txBody>
                  <a:tcPr marL="50292" marR="50292" marT="32004" marB="22860" anchor="ctr">
                    <a:solidFill>
                      <a:srgbClr val="FFFFFF"/>
                    </a:solidFill>
                  </a:tcPr>
                </a:tc>
              </a:tr>
              <a:tr h="343814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SHP-005</a:t>
                      </a:r>
                    </a:p>
                  </a:txBody>
                  <a:tcPr marL="50292" marR="50292" marT="32004" marB="22860" anchor="ctr">
                    <a:solidFill>
                      <a:srgbClr val="F2F7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83757"/>
                          </a:solidFill>
                          <a:latin typeface="Aptos"/>
                        </a:rPr>
                        <a:t>LOCKER REROUTE / casual</a:t>
                      </a:r>
                    </a:p>
                  </a:txBody>
                  <a:tcPr marL="50292" marR="50292" marT="32004" marB="22860" anchor="ctr">
                    <a:solidFill>
                      <a:srgbClr val="F2F7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0292" marR="50292" marT="32004" marB="22860" anchor="ctr">
                    <a:solidFill>
                      <a:srgbClr val="F2F7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0292" marR="50292" marT="32004" marB="22860" anchor="ctr">
                    <a:solidFill>
                      <a:srgbClr val="F2F7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0292" marR="50292" marT="32004" marB="22860" anchor="ctr">
                    <a:solidFill>
                      <a:srgbClr val="F2F7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5/5</a:t>
                      </a:r>
                    </a:p>
                  </a:txBody>
                  <a:tcPr marL="50292" marR="50292" marT="32004" marB="22860" anchor="ctr">
                    <a:solidFill>
                      <a:srgbClr val="F2F7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83757"/>
                          </a:solidFill>
                          <a:latin typeface="Aptos"/>
                        </a:rPr>
                        <a:t>Locker/RAG → reroute → critics → escalate.</a:t>
                      </a:r>
                    </a:p>
                  </a:txBody>
                  <a:tcPr marL="50292" marR="50292" marT="32004" marB="22860" anchor="ctr">
                    <a:solidFill>
                      <a:srgbClr val="F2F7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83757"/>
                          </a:solidFill>
                          <a:latin typeface="Aptos"/>
                        </a:rPr>
                        <a:t>P2, 2, 3</a:t>
                      </a:r>
                    </a:p>
                  </a:txBody>
                  <a:tcPr marL="50292" marR="50292" marT="32004" marB="22860" anchor="ctr">
                    <a:solidFill>
                      <a:srgbClr val="F2F7FA"/>
                    </a:solidFill>
                  </a:tcPr>
                </a:tc>
              </a:tr>
              <a:tr h="343814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SHP-006</a:t>
                      </a:r>
                    </a:p>
                  </a:txBody>
                  <a:tcPr marL="50292" marR="50292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83757"/>
                          </a:solidFill>
                          <a:latin typeface="Aptos"/>
                        </a:rPr>
                        <a:t>RETURN / casual</a:t>
                      </a:r>
                    </a:p>
                  </a:txBody>
                  <a:tcPr marL="50292" marR="50292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0292" marR="50292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0292" marR="50292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0292" marR="50292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5/5</a:t>
                      </a:r>
                    </a:p>
                  </a:txBody>
                  <a:tcPr marL="50292" marR="50292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83757"/>
                          </a:solidFill>
                          <a:latin typeface="Aptos"/>
                        </a:rPr>
                        <a:t>Profile/RAG → return to sender → critics accept.</a:t>
                      </a:r>
                    </a:p>
                  </a:txBody>
                  <a:tcPr marL="50292" marR="50292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83757"/>
                          </a:solidFill>
                          <a:latin typeface="Aptos"/>
                        </a:rPr>
                        <a:t>P5, 5, 4</a:t>
                      </a:r>
                    </a:p>
                  </a:txBody>
                  <a:tcPr marL="50292" marR="50292" marT="32004" marB="22860" anchor="ctr">
                    <a:solidFill>
                      <a:srgbClr val="FFFFFF"/>
                    </a:solidFill>
                  </a:tcPr>
                </a:tc>
              </a:tr>
              <a:tr h="343814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SHP-007</a:t>
                      </a:r>
                    </a:p>
                  </a:txBody>
                  <a:tcPr marL="50292" marR="50292" marT="32004" marB="22860" anchor="ctr">
                    <a:solidFill>
                      <a:srgbClr val="F2F7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83757"/>
                          </a:solidFill>
                          <a:latin typeface="Aptos"/>
                        </a:rPr>
                        <a:t>REPLACE / formal</a:t>
                      </a:r>
                    </a:p>
                  </a:txBody>
                  <a:tcPr marL="50292" marR="50292" marT="32004" marB="22860" anchor="ctr">
                    <a:solidFill>
                      <a:srgbClr val="F2F7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0292" marR="50292" marT="32004" marB="22860" anchor="ctr">
                    <a:solidFill>
                      <a:srgbClr val="F2F7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0292" marR="50292" marT="32004" marB="22860" anchor="ctr">
                    <a:solidFill>
                      <a:srgbClr val="F2F7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0292" marR="50292" marT="32004" marB="22860" anchor="ctr">
                    <a:solidFill>
                      <a:srgbClr val="F2F7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5/5</a:t>
                      </a:r>
                    </a:p>
                  </a:txBody>
                  <a:tcPr marL="50292" marR="50292" marT="32004" marB="22860" anchor="ctr">
                    <a:solidFill>
                      <a:srgbClr val="F2F7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83757"/>
                          </a:solidFill>
                          <a:latin typeface="Aptos"/>
                        </a:rPr>
                        <a:t>Weather/perishable RAG → replace → escalate.</a:t>
                      </a:r>
                    </a:p>
                  </a:txBody>
                  <a:tcPr marL="50292" marR="50292" marT="32004" marB="22860" anchor="ctr">
                    <a:solidFill>
                      <a:srgbClr val="F2F7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83757"/>
                          </a:solidFill>
                          <a:latin typeface="Aptos"/>
                        </a:rPr>
                        <a:t>P6, 2</a:t>
                      </a:r>
                    </a:p>
                  </a:txBody>
                  <a:tcPr marL="50292" marR="50292" marT="32004" marB="22860" anchor="ctr">
                    <a:solidFill>
                      <a:srgbClr val="F2F7FA"/>
                    </a:solidFill>
                  </a:tcPr>
                </a:tc>
              </a:tr>
              <a:tr h="343814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SHP-008</a:t>
                      </a:r>
                    </a:p>
                  </a:txBody>
                  <a:tcPr marL="50292" marR="50292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83757"/>
                          </a:solidFill>
                          <a:latin typeface="Aptos"/>
                        </a:rPr>
                        <a:t>RESCHEDULE / casual</a:t>
                      </a:r>
                    </a:p>
                  </a:txBody>
                  <a:tcPr marL="50292" marR="50292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0292" marR="50292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0292" marR="50292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0292" marR="50292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5/5</a:t>
                      </a:r>
                    </a:p>
                  </a:txBody>
                  <a:tcPr marL="50292" marR="50292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83757"/>
                          </a:solidFill>
                          <a:latin typeface="Aptos"/>
                        </a:rPr>
                        <a:t>History rule → reschedule → discretionary escalation.</a:t>
                      </a:r>
                    </a:p>
                  </a:txBody>
                  <a:tcPr marL="50292" marR="50292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83757"/>
                          </a:solidFill>
                          <a:latin typeface="Aptos"/>
                        </a:rPr>
                        <a:t>P2, 5, 5</a:t>
                      </a:r>
                    </a:p>
                  </a:txBody>
                  <a:tcPr marL="50292" marR="50292" marT="32004" marB="22860" anchor="ctr">
                    <a:solidFill>
                      <a:srgbClr val="FFFFFF"/>
                    </a:solidFill>
                  </a:tcPr>
                </a:tc>
              </a:tr>
              <a:tr h="343814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SHP-009</a:t>
                      </a:r>
                    </a:p>
                  </a:txBody>
                  <a:tcPr marL="50292" marR="50292" marT="32004" marB="22860" anchor="ctr">
                    <a:solidFill>
                      <a:srgbClr val="F2F7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83757"/>
                          </a:solidFill>
                          <a:latin typeface="Aptos"/>
                        </a:rPr>
                        <a:t>REPLACE / formal</a:t>
                      </a:r>
                    </a:p>
                  </a:txBody>
                  <a:tcPr marL="50292" marR="50292" marT="32004" marB="22860" anchor="ctr">
                    <a:solidFill>
                      <a:srgbClr val="F2F7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0292" marR="50292" marT="32004" marB="22860" anchor="ctr">
                    <a:solidFill>
                      <a:srgbClr val="F2F7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0292" marR="50292" marT="32004" marB="22860" anchor="ctr">
                    <a:solidFill>
                      <a:srgbClr val="F2F7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0292" marR="50292" marT="32004" marB="22860" anchor="ctr">
                    <a:solidFill>
                      <a:srgbClr val="F2F7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5/5</a:t>
                      </a:r>
                    </a:p>
                  </a:txBody>
                  <a:tcPr marL="50292" marR="50292" marT="32004" marB="22860" anchor="ctr">
                    <a:solidFill>
                      <a:srgbClr val="F2F7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83757"/>
                          </a:solidFill>
                          <a:latin typeface="Aptos"/>
                        </a:rPr>
                        <a:t>Damage/perishable RAG → replace → escalate.</a:t>
                      </a:r>
                    </a:p>
                  </a:txBody>
                  <a:tcPr marL="50292" marR="50292" marT="32004" marB="22860" anchor="ctr">
                    <a:solidFill>
                      <a:srgbClr val="F2F7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83757"/>
                          </a:solidFill>
                          <a:latin typeface="Aptos"/>
                        </a:rPr>
                        <a:t>P4, 6, 2</a:t>
                      </a:r>
                    </a:p>
                  </a:txBody>
                  <a:tcPr marL="50292" marR="50292" marT="32004" marB="22860" anchor="ctr">
                    <a:solidFill>
                      <a:srgbClr val="F2F7FA"/>
                    </a:solidFill>
                  </a:tcPr>
                </a:tc>
              </a:tr>
              <a:tr h="343814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SHP-010</a:t>
                      </a:r>
                    </a:p>
                  </a:txBody>
                  <a:tcPr marL="50292" marR="50292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83757"/>
                          </a:solidFill>
                          <a:latin typeface="Aptos"/>
                        </a:rPr>
                        <a:t>NO EXCEPTION / —</a:t>
                      </a:r>
                    </a:p>
                  </a:txBody>
                  <a:tcPr marL="50292" marR="50292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N/A</a:t>
                      </a:r>
                    </a:p>
                  </a:txBody>
                  <a:tcPr marL="50292" marR="50292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0292" marR="50292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50292" marR="50292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183757"/>
                          </a:solidFill>
                          <a:latin typeface="Aptos"/>
                        </a:rPr>
                        <a:t>5/5</a:t>
                      </a:r>
                    </a:p>
                  </a:txBody>
                  <a:tcPr marL="50292" marR="50292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83757"/>
                          </a:solidFill>
                          <a:latin typeface="Aptos"/>
                        </a:rPr>
                        <a:t>Preprocessor → routine-scan gate → finalize.</a:t>
                      </a:r>
                    </a:p>
                  </a:txBody>
                  <a:tcPr marL="50292" marR="50292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83757"/>
                          </a:solidFill>
                          <a:latin typeface="Aptos"/>
                        </a:rPr>
                        <a:t>N/A</a:t>
                      </a:r>
                    </a:p>
                  </a:txBody>
                  <a:tcPr marL="50292" marR="50292" marT="32004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TextBox 282"/>
          <p:cNvSpPr txBox="1"/>
          <p:nvPr/>
        </p:nvSpPr>
        <p:spPr>
          <a:xfrm>
            <a:off x="502920" y="171450"/>
            <a:ext cx="7178040" cy="3771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83757"/>
                </a:solidFill>
                <a:latin typeface="Aptos Display"/>
              </a:defRPr>
            </a:pPr>
            <a:r>
              <a:t>Conclusions and Business Recommendations</a:t>
            </a:r>
          </a:p>
        </p:txBody>
      </p:sp>
      <p:sp>
        <p:nvSpPr>
          <p:cNvPr id="284" name="Rounded Rectangle 283"/>
          <p:cNvSpPr/>
          <p:nvPr/>
        </p:nvSpPr>
        <p:spPr>
          <a:xfrm>
            <a:off x="594360" y="822960"/>
            <a:ext cx="3886200" cy="1371600"/>
          </a:xfrm>
          <a:prstGeom prst="roundRect">
            <a:avLst/>
          </a:prstGeom>
          <a:solidFill>
            <a:srgbClr val="F2F7FA"/>
          </a:solidFill>
          <a:ln>
            <a:solidFill>
              <a:srgbClr val="D2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594360" y="822960"/>
            <a:ext cx="73152" cy="1371600"/>
          </a:xfrm>
          <a:prstGeom prst="rect">
            <a:avLst/>
          </a:prstGeom>
          <a:solidFill>
            <a:srgbClr val="238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758952" y="905254"/>
            <a:ext cx="3630168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183757"/>
                </a:solidFill>
                <a:latin typeface="Aptos"/>
              </a:defRPr>
            </a:pPr>
            <a:r>
              <a:t>WHAT WORKED</a:t>
            </a:r>
          </a:p>
          <a:p>
            <a:pPr>
              <a:spcAft>
                <a:spcPts val="200"/>
              </a:spcAft>
              <a:defRPr sz="1200">
                <a:solidFill>
                  <a:srgbClr val="525F6C"/>
                </a:solidFill>
                <a:latin typeface="Aptos"/>
              </a:defRPr>
            </a:pPr>
            <a:r>
              <a:t>All 10 unique shipment scenarios were completed correctly. Duplicate scans and noise were filtered, policy-based escalation was enforced, and customer tone matched tier expectations.</a:t>
            </a:r>
          </a:p>
        </p:txBody>
      </p:sp>
      <p:sp>
        <p:nvSpPr>
          <p:cNvPr id="287" name="Rounded Rectangle 286"/>
          <p:cNvSpPr/>
          <p:nvPr/>
        </p:nvSpPr>
        <p:spPr>
          <a:xfrm>
            <a:off x="4663440" y="822960"/>
            <a:ext cx="3886200" cy="1371600"/>
          </a:xfrm>
          <a:prstGeom prst="roundRect">
            <a:avLst/>
          </a:prstGeom>
          <a:solidFill>
            <a:srgbClr val="F2F7FA"/>
          </a:solidFill>
          <a:ln>
            <a:solidFill>
              <a:srgbClr val="D2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4663440" y="822960"/>
            <a:ext cx="73152" cy="1371600"/>
          </a:xfrm>
          <a:prstGeom prst="rect">
            <a:avLst/>
          </a:prstGeom>
          <a:solidFill>
            <a:srgbClr val="D27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4828031" y="905254"/>
            <a:ext cx="3630168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183757"/>
                </a:solidFill>
                <a:latin typeface="Aptos"/>
              </a:defRPr>
            </a:pPr>
            <a:r>
              <a:t>NEXT PRODUCTION STEPS</a:t>
            </a:r>
          </a:p>
          <a:p>
            <a:pPr>
              <a:spcAft>
                <a:spcPts val="200"/>
              </a:spcAft>
              <a:defRPr sz="1200">
                <a:solidFill>
                  <a:srgbClr val="525F6C"/>
                </a:solidFill>
                <a:latin typeface="Aptos"/>
              </a:defRPr>
            </a:pPr>
            <a:r>
              <a:t>Persist shipment notes and supervisor queues, add temperature-controlled locker metadata, and expand adversarial tests for malformed records and API outages.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731520" y="2606040"/>
            <a:ext cx="7772400" cy="137160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25F6C"/>
                </a:solidFill>
                <a:latin typeface="Aptos"/>
              </a:defRPr>
            </a:pPr>
            <a:r>
              <a:t>• Keep deterministic policy rules authoritative for safety and escalation.</a:t>
            </a:r>
          </a:p>
          <a:p>
            <a:pPr>
              <a:spcAft>
                <a:spcPts val="900"/>
              </a:spcAft>
              <a:defRPr sz="1600" b="0">
                <a:solidFill>
                  <a:srgbClr val="525F6C"/>
                </a:solidFill>
                <a:latin typeface="Aptos"/>
              </a:defRPr>
            </a:pPr>
            <a:r>
              <a:t>• Use the LLM for flexible language tasks: classification rationale and customer-facing communication.</a:t>
            </a:r>
          </a:p>
          <a:p>
            <a:pPr>
              <a:spcAft>
                <a:spcPts val="900"/>
              </a:spcAft>
              <a:defRPr sz="1600" b="0">
                <a:solidFill>
                  <a:srgbClr val="525F6C"/>
                </a:solidFill>
                <a:latin typeface="Aptos"/>
              </a:defRPr>
            </a:pPr>
            <a:r>
              <a:t>• Monitor task completion, escalation accuracy, tool-call accuracy, coherence, and latency in production.</a:t>
            </a:r>
          </a:p>
          <a:p>
            <a:pPr>
              <a:spcAft>
                <a:spcPts val="900"/>
              </a:spcAft>
              <a:defRPr sz="1600" b="0">
                <a:solidFill>
                  <a:srgbClr val="525F6C"/>
                </a:solidFill>
                <a:latin typeface="Aptos"/>
              </a:defRPr>
            </a:pPr>
            <a:r>
              <a:t>• Keep the offline fallback as a reproducible evaluation and disaster-recovery path.</a:t>
            </a:r>
          </a:p>
        </p:txBody>
      </p:sp>
      <p:sp>
        <p:nvSpPr>
          <p:cNvPr id="291" name="Rectangle 290"/>
          <p:cNvSpPr/>
          <p:nvPr/>
        </p:nvSpPr>
        <p:spPr>
          <a:xfrm>
            <a:off x="0" y="4834890"/>
            <a:ext cx="9144000" cy="13716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502920" y="4855464"/>
            <a:ext cx="8138160" cy="137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700">
                <a:solidFill>
                  <a:srgbClr val="525F6C"/>
                </a:solidFill>
                <a:latin typeface="Aptos"/>
              </a:defRPr>
            </a:pPr>
            <a:r>
              <a:t>Submission package verified against attached ground truth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