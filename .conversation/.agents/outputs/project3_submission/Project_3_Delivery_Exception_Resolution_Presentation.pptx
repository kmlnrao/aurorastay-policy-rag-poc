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E045B5-FDBC-4571-976B-F3AD27CFFA3D}">
  <a:tblStyle styleId="{90E045B5-FDBC-4571-976B-F3AD27CFFA3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font" Target="fonts/NunitoSemiBold-regular.fntdata"/><Relationship Id="rId21" Type="http://schemas.openxmlformats.org/officeDocument/2006/relationships/font" Target="fonts/NunitoSemiBold-bold.fntdata"/><Relationship Id="rId22" Type="http://schemas.openxmlformats.org/officeDocument/2006/relationships/font" Target="fonts/NunitoSemiBold-italic.fntdata"/><Relationship Id="rId23" Type="http://schemas.openxmlformats.org/officeDocument/2006/relationships/font" Target="fonts/NunitoSemiBold-boldItalic.fntdata"/><Relationship Id="rId24" Type="http://schemas.openxmlformats.org/officeDocument/2006/relationships/font" Target="fonts/Nunito-regular.fntdata"/><Relationship Id="rId25" Type="http://schemas.openxmlformats.org/officeDocument/2006/relationships/font" Target="fonts/Nunito-bold.fntdata"/><Relationship Id="rId26" Type="http://schemas.openxmlformats.org/officeDocument/2006/relationships/font" Target="fonts/Nunito-italic.fntdata"/><Relationship Id="rId27" Type="http://schemas.openxmlformats.org/officeDocument/2006/relationships/font" Target="fonts/Nunito-boldItalic.fntdata"/><Relationship Id="rId28" Type="http://schemas.openxmlformats.org/officeDocument/2006/relationships/font" Target="fonts/Montserrat-regular.fntdata"/><Relationship Id="rId29" Type="http://schemas.openxmlformats.org/officeDocument/2006/relationships/font" Target="fonts/Montserrat-bold.fntdata"/><Relationship Id="rId30" Type="http://schemas.openxmlformats.org/officeDocument/2006/relationships/font" Target="fonts/Montserrat-italic.fntdata"/><Relationship Id="rId31" Type="http://schemas.openxmlformats.org/officeDocument/2006/relationships/font" Target="fonts/Montserrat-boldItalic.fntdata"/><Relationship Id="rId32" Type="http://schemas.openxmlformats.org/officeDocument/2006/relationships/font" Target="fonts/NunitoExtraBold-bold.fntdata"/><Relationship Id="rId33" Type="http://schemas.openxmlformats.org/officeDocument/2006/relationships/font" Target="fonts/NunitoExtraBold-boldItalic.fntdata"/><Relationship Id="rId34" Type="http://schemas.openxmlformats.org/officeDocument/2006/relationships/font" Target="fonts/CenturyGothic-regular.fntdata"/><Relationship Id="rId35" Type="http://schemas.openxmlformats.org/officeDocument/2006/relationships/font" Target="fonts/CenturyGothic-bold.fntdata"/><Relationship Id="rId36" Type="http://schemas.openxmlformats.org/officeDocument/2006/relationships/font" Target="fonts/CenturyGothic-italic.fntdata"/><Relationship Id="rId3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{90E045B5-FDBC-4571-976B-F3AD27CFFA3D}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757"/>
        </a:solidFill>
        <a:effectLst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22960" y="114300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AI-Powered Delivery</a:t>
            </a:r>
            <a:br/>
            <a:r>
              <a:t>Exception Resolution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68680" y="26060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C4E0E8"/>
                </a:solidFill>
                <a:latin typeface="Aptos"/>
              </a:defRPr>
            </a:pPr>
            <a:r>
              <a:t>Project 3 | Low-Code Multi-Agent System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68680" y="5440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20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72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Contents / Agenda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22960" y="1325880"/>
            <a:ext cx="7498079" cy="43891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Executive summary and verified outcomes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Business problem and solution approach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Data loading, model initialization, and retrieval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Tools, multi-agent architecture, escalation, and security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Test cases, traces, document citations, and evaluation metrics</a:t>
            </a:r>
          </a:p>
          <a:p>
            <a:pPr>
              <a:spcAft>
                <a:spcPts val="1200"/>
              </a:spcAft>
              <a:defRPr sz="1800" b="0">
                <a:solidFill>
                  <a:srgbClr val="183757"/>
                </a:solidFill>
                <a:latin typeface="Aptos"/>
              </a:defRPr>
            </a:pPr>
            <a:r>
              <a:t>• Conclusions, recommendations, and appendix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30352" y="713232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F6C"/>
                </a:solidFill>
                <a:latin typeface="Aptos"/>
              </a:defRPr>
            </a:pPr>
            <a:r>
              <a:t>The completed notebook was executed against all attached data.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594360" y="1143000"/>
            <a:ext cx="251460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94360" y="1143000"/>
            <a:ext cx="73152" cy="150876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8952" y="1252728"/>
            <a:ext cx="225856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SCOPE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13 raw delivery-log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 unique shipments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12 customers + 6 lockers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10-page operations playbook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310128" y="1143000"/>
            <a:ext cx="251460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3310128" y="1143000"/>
            <a:ext cx="73152" cy="150876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3474720" y="1252728"/>
            <a:ext cx="225856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RESULT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Task completion: 100%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Escalation accuracy: 100% (8/8)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Tool-call accuracy: 100%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Coherence: 5.00 / 5.0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025896" y="1143000"/>
            <a:ext cx="2514600" cy="150876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025896" y="1143000"/>
            <a:ext cx="73152" cy="150876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90488" y="1252728"/>
            <a:ext cx="225856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RECOMMENDATION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Keep deterministic policy rules authoritative for safety and escalation. Use the LLM for classification, rationale, and customer communication.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77240" y="3063240"/>
            <a:ext cx="7589520" cy="2560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system filters routine noise before unnecessary tool or model calls.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It removes duplicate scans, retrieves policy context, checks lockers, and applies escalation rules.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Structured Resolution and Communication agents are validated by critic agents before finalization.</a:t>
            </a:r>
          </a:p>
          <a:p>
            <a:pPr>
              <a:spcAft>
                <a:spcPts val="8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run used a credential-free deterministic fallback; remote GPT-4o-mini mode remains supported when configured.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96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Business Problem Overview and Solution Approach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94360" y="1143000"/>
            <a:ext cx="3749039" cy="192024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94360" y="1143000"/>
            <a:ext cx="73152" cy="192024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58952" y="1252728"/>
            <a:ext cx="3493007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757"/>
                </a:solidFill>
                <a:latin typeface="Aptos"/>
              </a:defRPr>
            </a:pPr>
            <a:r>
              <a:t>BUSINESS PROBLEM</a:t>
            </a:r>
          </a:p>
          <a:p>
            <a:pPr>
              <a:spcAft>
                <a:spcPts val="200"/>
              </a:spcAft>
              <a:defRPr sz="1300">
                <a:solidFill>
                  <a:srgbClr val="525F6C"/>
                </a:solidFill>
                <a:latin typeface="Aptos"/>
              </a:defRPr>
            </a:pPr>
            <a:r>
              <a:t>Delivery exceptions are messy, repetitive, and policy-sensitive. Duplicate scans create false work; natural-language notes hide the relevant facts; inconsistent escalation risks customer and operational harm.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4617720" y="1143000"/>
            <a:ext cx="3886200" cy="192024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4617720" y="1143000"/>
            <a:ext cx="73152" cy="19202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782312" y="1252728"/>
            <a:ext cx="3630168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757"/>
                </a:solidFill>
                <a:latin typeface="Aptos"/>
              </a:defRPr>
            </a:pPr>
            <a:r>
              <a:t>SOLUTION</a:t>
            </a:r>
          </a:p>
          <a:p>
            <a:pPr>
              <a:spcAft>
                <a:spcPts val="200"/>
              </a:spcAft>
              <a:defRPr sz="1300">
                <a:solidFill>
                  <a:srgbClr val="525F6C"/>
                </a:solidFill>
                <a:latin typeface="Aptos"/>
              </a:defRPr>
            </a:pPr>
            <a:r>
              <a:t>A hub-and-spoke LangGraph workflow combines guardrails, deterministic tools, structured agent outputs, critic validation, and traceable final actions.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731520" y="3383280"/>
            <a:ext cx="781812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1. Preprocess: deduplicate, consolidate attempts, scan for injection, and filter routine noise.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2. Enrich: retrieve customer profile, locker availability, playbook chunks, and escalation signals.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3. Decide: Resolution Agent selects classification and action with a policy-grounded rationale.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4. Validate: Resolution Critic may accept, revise, or escalate; Communication Critic validates the message.</a:t>
            </a:r>
          </a:p>
          <a:p>
            <a:pPr>
              <a:spcAft>
                <a:spcPts val="500"/>
              </a:spcAft>
              <a:defRPr sz="1400" b="0">
                <a:solidFill>
                  <a:srgbClr val="525F6C"/>
                </a:solidFill>
                <a:latin typeface="Aptos"/>
              </a:defRPr>
            </a:pPr>
            <a:r>
              <a:t>• 5. Finalize: package an auditable action, escalation flag, customer message, citations, and latency.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5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Data Loading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30352" y="713232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25F6C"/>
                </a:solidFill>
                <a:latin typeface="Aptos"/>
              </a:defRPr>
            </a:pPr>
            <a:r>
              <a:t>Source coverage and attributes used by the solution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502920" y="1097280"/>
            <a:ext cx="39319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02920" y="1097280"/>
            <a:ext cx="73152" cy="155448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7512" y="1207007"/>
            <a:ext cx="3675887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DELIVERY LOGS | 13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shipment_id, timestamp, status_code, driver description, customer_id, address, package type/size, attempt number, duplicate flag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4617720" y="1097280"/>
            <a:ext cx="39319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4617720" y="1097280"/>
            <a:ext cx="73152" cy="15544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782312" y="1207007"/>
            <a:ext cx="3675887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CUSTOMER DB | 12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Customer tier, preferred channel, exception count in the last 90 days, active credit, and name. Names are redacted by default.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502920" y="2880360"/>
            <a:ext cx="39319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02920" y="2880360"/>
            <a:ext cx="73152" cy="155448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67512" y="2990088"/>
            <a:ext cx="3675887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LOCKER DB | 6 ROWS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Locker address and ZIP, capacity status, operating hours, and maximum package size. Eligibility is checked before reroute communication.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4617720" y="2880360"/>
            <a:ext cx="3931920" cy="155448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17720" y="2880360"/>
            <a:ext cx="73152" cy="155448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782312" y="2990088"/>
            <a:ext cx="3675887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PLAYBOOK + LABELS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10-page PDF split into 24 page-aware chunks. Ground truth has 13 labels aligned to the raw logs and consolidates to 10 unique shipment scenarios.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85800" y="4983480"/>
            <a:ext cx="7772400" cy="868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Important data quality handling: duplicate scans for SHP-002 and SHP-007 are removed before consolidation.</a:t>
            </a:r>
          </a:p>
          <a:p>
            <a:pPr>
              <a:spcAft>
                <a:spcPts val="3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Ground truth is consolidated by shipment, using the highest-attempt exception label for multi-row shipments.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215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Model Initialization and Retrieval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94360" y="1143000"/>
            <a:ext cx="25146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94360" y="1143000"/>
            <a:ext cx="73152" cy="182880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758952" y="1252728"/>
            <a:ext cx="225856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REMOTE MODE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Generation: gpt-4o-mini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Validation: gpt-4o-mini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Temperature: 0.0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Credentials loaded only from config.json or environment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310128" y="1143000"/>
            <a:ext cx="25146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310128" y="1143000"/>
            <a:ext cx="73152" cy="182880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3474720" y="1252728"/>
            <a:ext cx="225856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VALIDATION MODE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The executed submission used a deterministic offline fallback because no credentials were attached. This makes the evaluation reproducible and still exercises the complete graph.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6025896" y="1143000"/>
            <a:ext cx="25146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025896" y="1143000"/>
            <a:ext cx="73152" cy="18288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190488" y="1252728"/>
            <a:ext cx="225856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RETRIEVAL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Page-aware lexical retrieval over 24 chunks. It returns source page metadata for audit citations without requiring a model download.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31520" y="3474720"/>
            <a:ext cx="7772400" cy="19202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Pydantic schemas enforce valid Resolution, Communication, and Critic outputs.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Temperature 0.0 is used to reduce variance in structured decisions.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notebook supports remote LLM execution when a valid config.json is supplied, but never hard-codes credentials.</a:t>
            </a:r>
          </a:p>
          <a:p>
            <a:pPr>
              <a:spcAft>
                <a:spcPts val="700"/>
              </a:spcAft>
              <a:defRPr sz="1500" b="0">
                <a:solidFill>
                  <a:srgbClr val="525F6C"/>
                </a:solidFill>
                <a:latin typeface="Aptos"/>
              </a:defRPr>
            </a:pPr>
            <a:r>
              <a:t>• The offline path is explicitly labeled in the exported results as runtime_mode=offline_fallback.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223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Defining Tools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85800" y="1051560"/>
            <a:ext cx="7726679" cy="658368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85800" y="1051560"/>
            <a:ext cx="73152" cy="658368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50392" y="1161288"/>
            <a:ext cx="7470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Delivery Log Reader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Reads all raw CSV rows and feeds the preprocessor.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685800" y="1920239"/>
            <a:ext cx="7726679" cy="658368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85800" y="1920239"/>
            <a:ext cx="73152" cy="65836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50392" y="2029967"/>
            <a:ext cx="7470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Customer Profile Lookup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Parameterized SQLite query; PII name is returned only with explicit include_pii=True.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685800" y="2788920"/>
            <a:ext cx="7726679" cy="658368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85800" y="2788920"/>
            <a:ext cx="73152" cy="658368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50392" y="2898648"/>
            <a:ext cx="7470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Locker Availability Checker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Checks ZIP, size capacity, FULL/LIMITED status, and returns eligibility plus reason.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685800" y="3657599"/>
            <a:ext cx="7726679" cy="658368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85800" y="3657599"/>
            <a:ext cx="73152" cy="658368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50392" y="3767327"/>
            <a:ext cx="7470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Playbook Search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Retrieves relevant page-aware policy chunks for the Resolution and Critic agents.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85800" y="4526279"/>
            <a:ext cx="7726679" cy="658368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85800" y="4526279"/>
            <a:ext cx="73152" cy="658368"/>
          </a:xfrm>
          <a:prstGeom prst="rect">
            <a:avLst/>
          </a:prstGeom>
          <a:solidFill>
            <a:srgbClr val="183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850392" y="4636007"/>
            <a:ext cx="747064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757"/>
                </a:solidFill>
                <a:latin typeface="Aptos"/>
              </a:defRPr>
            </a:pPr>
            <a:r>
              <a:t>Escalation Rule Engine</a:t>
            </a:r>
          </a:p>
          <a:p>
            <a:pPr>
              <a:spcAft>
                <a:spcPts val="200"/>
              </a:spcAft>
              <a:defRPr sz="1100">
                <a:solidFill>
                  <a:srgbClr val="525F6C"/>
                </a:solidFill>
                <a:latin typeface="Aptos"/>
              </a:defRPr>
            </a:pPr>
            <a:r>
              <a:t>Deterministically evaluates automatic and discretionary triggers, including delay-hour parsing.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1520" y="5623560"/>
            <a:ext cx="77724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238254"/>
                </a:solidFill>
                <a:latin typeface="Aptos"/>
              </a:defRPr>
            </a:pPr>
            <a:r>
              <a:t>• Evaluation result: 10/10 scenarios invoked the expected tool path, including the intended noise short-circuit.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3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Multi-Agent System Architecture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85800" y="914400"/>
            <a:ext cx="777240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Hub-and-spoke orchestration keeps routing deterministic while allowing agent outputs to be structured and critic-checked.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11480" y="1874519"/>
            <a:ext cx="1234440" cy="685800"/>
          </a:xfrm>
          <a:prstGeom prst="roundRect">
            <a:avLst/>
          </a:prstGeom>
          <a:solidFill>
            <a:srgbClr val="2D6F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Preprocessor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057400" y="1874519"/>
            <a:ext cx="1234440" cy="685800"/>
          </a:xfrm>
          <a:prstGeom prst="roundRect">
            <a:avLst/>
          </a:prstGeom>
          <a:solidFill>
            <a:srgbClr val="1837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Orchestrator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3703320" y="1325880"/>
            <a:ext cx="1234440" cy="685800"/>
          </a:xfrm>
          <a:prstGeom prst="roundRect">
            <a:avLst/>
          </a:prstGeom>
          <a:solidFill>
            <a:srgbClr val="008B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Resolution</a:t>
            </a:r>
            <a:br/>
            <a:r>
              <a:t>Agent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703320" y="2468880"/>
            <a:ext cx="1234440" cy="685800"/>
          </a:xfrm>
          <a:prstGeom prst="roundRect">
            <a:avLst/>
          </a:prstGeom>
          <a:solidFill>
            <a:srgbClr val="D273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Resolution</a:t>
            </a:r>
            <a:br/>
            <a:r>
              <a:t>Critic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486400" y="1325880"/>
            <a:ext cx="1234440" cy="685800"/>
          </a:xfrm>
          <a:prstGeom prst="roundRect">
            <a:avLst/>
          </a:prstGeom>
          <a:solidFill>
            <a:srgbClr val="23825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Communication</a:t>
            </a:r>
            <a:br/>
            <a:r>
              <a:t>Agent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5486400" y="2468880"/>
            <a:ext cx="1234440" cy="685800"/>
          </a:xfrm>
          <a:prstGeom prst="roundRect">
            <a:avLst/>
          </a:prstGeom>
          <a:solidFill>
            <a:srgbClr val="D273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Communication</a:t>
            </a:r>
            <a:br/>
            <a:r>
              <a:t>Critic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7269480" y="1874519"/>
            <a:ext cx="1234440" cy="685800"/>
          </a:xfrm>
          <a:prstGeom prst="roundRect">
            <a:avLst/>
          </a:prstGeom>
          <a:solidFill>
            <a:srgbClr val="1837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Finalize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1645920" y="2212848"/>
            <a:ext cx="41148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3291840" y="1664208"/>
            <a:ext cx="411480" cy="54864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3291840" y="2212848"/>
            <a:ext cx="411480" cy="59436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4937760" y="1664208"/>
            <a:ext cx="54864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937760" y="2807208"/>
            <a:ext cx="548640" cy="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720840" y="1664208"/>
            <a:ext cx="548640" cy="548640"/>
          </a:xfrm>
          <a:prstGeom prst="line">
            <a:avLst/>
          </a:prstGeom>
          <a:ln w="19050">
            <a:solidFill>
              <a:srgbClr val="525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731520" y="3840480"/>
            <a:ext cx="7772400" cy="2011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Prompts: policy-grounded resolution, tier-aware communication, resolution validation, communication validation, and 1–5 trajectory coherence judging.</a:t>
            </a:r>
          </a:p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Escalation: automatic triggers (third attempt, VIP ≥3 exceptions, damaged perishables, suspected fraud, safety) plus discretionary triggers (high-history Standard and delayed Premium perishables).</a:t>
            </a:r>
          </a:p>
          <a:p>
            <a:pPr>
              <a:spcAft>
                <a:spcPts val="5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Security: parameterized SQL, default PII redaction, prompt-injection scanning before LLM calls, no raw PII in coherence judging, and safe fallback escalation.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Box 251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Test Cases Execution, Evaluation, and Observability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594360" y="1051560"/>
            <a:ext cx="2468880" cy="16002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94360" y="1051560"/>
            <a:ext cx="73152" cy="160020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758952" y="1161288"/>
            <a:ext cx="221284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AGGREGATE METRICS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Task completion 100%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Escalation accuracy 100% (8/8)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Tool-call accuracy 100%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Coherence 5.00/5.0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3337560" y="1051560"/>
            <a:ext cx="2468880" cy="16002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337560" y="1051560"/>
            <a:ext cx="73152" cy="1600200"/>
          </a:xfrm>
          <a:prstGeom prst="rect">
            <a:avLst/>
          </a:prstGeom>
          <a:solidFill>
            <a:srgbClr val="2D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3502152" y="1161288"/>
            <a:ext cx="221284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OBSERVABILITY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Every exception trace records tool calls, agent decisions, critic decisions, escalation signals, latency, and retrieved playbook page citations.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6080760" y="1051560"/>
            <a:ext cx="2468880" cy="16002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6080760" y="1051560"/>
            <a:ext cx="73152" cy="16002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245352" y="1161288"/>
            <a:ext cx="2212848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ACCURACY COMMENT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All expected resolutions, tones, exception classifications, and escalation decisions match the supplied ground truth for the 10 unique scenarios.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731520" y="3063240"/>
            <a:ext cx="7772400" cy="2926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SHP-001 Delivered → noise / no action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SHP-002 VIP attempts → reschedule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SHP-003 Address issue → reschedule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SHP-004 VIP fragile damage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SHP-005 Third attempt → locker reroute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SHP-006 Refused → return to sender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SHP-007 Perishable weather &gt;4h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SHP-008 Standard high history → reschedule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SHP-009 Damaged perishable → replace / escalate</a:t>
            </a:r>
          </a:p>
          <a:p>
            <a:pPr>
              <a:spcAft>
                <a:spcPts val="200"/>
              </a:spcAft>
              <a:defRPr sz="1200" b="0">
                <a:solidFill>
                  <a:srgbClr val="525F6C"/>
                </a:solidFill>
                <a:latin typeface="Aptos"/>
              </a:defRPr>
            </a:pPr>
            <a:r>
              <a:t>• SHP-010 Depot scan → noise / no action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3757"/>
        </a:solidFill>
        <a:effectLst/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7"/>
          <p:cNvSpPr/>
          <p:nvPr/>
        </p:nvSpPr>
        <p:spPr>
          <a:xfrm>
            <a:off x="0" y="5349240"/>
            <a:ext cx="9144000" cy="10058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85800" y="20116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APPENDIX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31520" y="297180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4E0E8"/>
                </a:solidFill>
                <a:latin typeface="Aptos"/>
              </a:defRPr>
            </a:pPr>
            <a:r>
              <a:t>Detailed scenario outcomes, citations, and submission checklist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273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Appendix: Detailed Evaluation Results</a:t>
            </a:r>
          </a:p>
        </p:txBody>
      </p:sp>
      <p:graphicFrame>
        <p:nvGraphicFramePr>
          <p:cNvPr id="275" name="Table 274"/>
          <p:cNvGraphicFramePr>
            <a:graphicFrameLocks noGrp="1"/>
          </p:cNvGraphicFramePr>
          <p:nvPr/>
        </p:nvGraphicFramePr>
        <p:xfrm>
          <a:off x="411480" y="1005840"/>
          <a:ext cx="8321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91640"/>
                <a:gridCol w="777240"/>
                <a:gridCol w="822960"/>
                <a:gridCol w="822960"/>
                <a:gridCol w="3291840"/>
              </a:tblGrid>
              <a:tr h="40732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Shipment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Esc.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Tone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Citations</a:t>
                      </a:r>
                    </a:p>
                  </a:txBody>
                  <a:tcPr>
                    <a:solidFill>
                      <a:srgbClr val="183757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SHP-001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P2, P6, 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SHP-003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RESCHEDULE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CASUAL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P2, P3, P3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REPLACE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P4, P4, 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SHP-005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REROUTE_TO_LOCKER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CASUAL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P2, P6, P2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RETURN_TO_SENDER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CASUAL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P5, P4, P5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SHP-007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REPLACE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FORMAL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P6, P6, P2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CASUAL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P2, P2,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SHP-009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REPLACE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FORMAL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P6, P4, P9</a:t>
                      </a:r>
                    </a:p>
                  </a:txBody>
                  <a:tcPr>
                    <a:solidFill>
                      <a:srgbClr val="F2F7FA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SHP-010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38254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525F6C"/>
                          </a:solidFill>
                          <a:latin typeface="Apto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" name="TextBox 275"/>
          <p:cNvSpPr txBox="1"/>
          <p:nvPr/>
        </p:nvSpPr>
        <p:spPr>
          <a:xfrm>
            <a:off x="594360" y="5623560"/>
            <a:ext cx="7955279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"/>
              </a:spcAft>
              <a:defRPr sz="900" b="0">
                <a:solidFill>
                  <a:srgbClr val="525F6C"/>
                </a:solidFill>
                <a:latin typeface="Aptos"/>
              </a:defRPr>
            </a:pPr>
            <a:r>
              <a:t>• Noise scenarios intentionally show N/A for escalation and playbook citations because they are short-circuited before context retrieval.</a:t>
            </a:r>
          </a:p>
          <a:p>
            <a:pPr>
              <a:spcAft>
                <a:spcPts val="100"/>
              </a:spcAft>
              <a:defRPr sz="900" b="0">
                <a:solidFill>
                  <a:srgbClr val="525F6C"/>
                </a:solidFill>
                <a:latin typeface="Aptos"/>
              </a:defRPr>
            </a:pPr>
            <a:r>
              <a:t>• Exception scenarios cite the retrieved playbook pages used for the trace; repeated pages reflect top-k retrieval, not repeated source documents.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Project 3 | Low-Code Delivery Exception 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2"/>
          <p:cNvSpPr txBox="1"/>
          <p:nvPr/>
        </p:nvSpPr>
        <p:spPr>
          <a:xfrm>
            <a:off x="502920" y="22860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757"/>
                </a:solidFill>
                <a:latin typeface="Aptos Display"/>
              </a:defRPr>
            </a:pPr>
            <a:r>
              <a:t>Conclusions and Business Recommendations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594360" y="1097280"/>
            <a:ext cx="38862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94360" y="1097280"/>
            <a:ext cx="73152" cy="1828800"/>
          </a:xfrm>
          <a:prstGeom prst="rect">
            <a:avLst/>
          </a:prstGeom>
          <a:solidFill>
            <a:srgbClr val="238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58952" y="1207007"/>
            <a:ext cx="363016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WHAT WORKED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All 10 unique shipment scenarios were completed correctly. Duplicate scans and noise were filtered, policy-based escalation was enforced, and customer tone matched tier expectations.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4663440" y="1097280"/>
            <a:ext cx="3886200" cy="1828800"/>
          </a:xfrm>
          <a:prstGeom prst="roundRect">
            <a:avLst/>
          </a:prstGeom>
          <a:solidFill>
            <a:srgbClr val="F2F7FA"/>
          </a:solidFill>
          <a:ln>
            <a:solidFill>
              <a:srgbClr val="D2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4663440" y="1097280"/>
            <a:ext cx="73152" cy="1828800"/>
          </a:xfrm>
          <a:prstGeom prst="rect">
            <a:avLst/>
          </a:prstGeom>
          <a:solidFill>
            <a:srgbClr val="D2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4828031" y="1207007"/>
            <a:ext cx="3630168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757"/>
                </a:solidFill>
                <a:latin typeface="Aptos"/>
              </a:defRPr>
            </a:pPr>
            <a:r>
              <a:t>NEXT PRODUCTION STEPS</a:t>
            </a:r>
          </a:p>
          <a:p>
            <a:pPr>
              <a:spcAft>
                <a:spcPts val="200"/>
              </a:spcAft>
              <a:defRPr sz="1200">
                <a:solidFill>
                  <a:srgbClr val="525F6C"/>
                </a:solidFill>
                <a:latin typeface="Aptos"/>
              </a:defRPr>
            </a:pPr>
            <a:r>
              <a:t>Persist shipment notes and supervisor queues, add temperature-controlled locker metadata, and expand adversarial tests for malformed records and API outages.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31520" y="3474720"/>
            <a:ext cx="7772400" cy="1828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Keep deterministic policy rules authoritative for safety and escalation.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Use the LLM for flexible language tasks: classification rationale and customer-facing communication.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Monitor task completion, escalation accuracy, tool-call accuracy, coherence, and latency in production.</a:t>
            </a:r>
          </a:p>
          <a:p>
            <a:pPr>
              <a:spcAft>
                <a:spcPts val="900"/>
              </a:spcAft>
              <a:defRPr sz="1600" b="0">
                <a:solidFill>
                  <a:srgbClr val="525F6C"/>
                </a:solidFill>
                <a:latin typeface="Aptos"/>
              </a:defRPr>
            </a:pPr>
            <a:r>
              <a:t>• Keep the offline fallback as a reproducible evaluation and disaster-recovery path.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0" y="6446520"/>
            <a:ext cx="9144000" cy="182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502920" y="6473952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25F6C"/>
                </a:solidFill>
                <a:latin typeface="Aptos"/>
              </a:defRPr>
            </a:pPr>
            <a:r>
              <a:t>Submission package verified against attached ground truth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